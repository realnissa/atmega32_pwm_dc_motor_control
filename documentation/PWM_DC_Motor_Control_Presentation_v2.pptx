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Lst>
  <p:sldSz cx="9144000" cy="5143500"/>
  <p:notesSz cx="51435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GB" sz="1800" b="0" u="none" strike="noStrike">
                <a:solidFill>
                  <a:schemeClr val="dk1"/>
                </a:solidFill>
                <a:effectLst/>
                <a:uFillTx/>
                <a:latin typeface="Calibri"/>
              </a:rPr>
              <a:t>Click to </a:t>
            </a:r>
            <a:r>
              <a:rPr lang="en-GB" sz="1800" b="0" u="none" strike="noStrike">
                <a:solidFill>
                  <a:schemeClr val="dk1"/>
                </a:solidFill>
                <a:effectLst/>
                <a:uFillTx/>
                <a:latin typeface="Calibri"/>
              </a:rPr>
              <a:t>move the </a:t>
            </a:r>
            <a:r>
              <a:rPr lang="en-GB" sz="1800" b="0" u="none" strike="noStrike">
                <a:solidFill>
                  <a:schemeClr val="dk1"/>
                </a:solidFill>
                <a:effectLst/>
                <a:uFillTx/>
                <a:latin typeface="Calibri"/>
              </a:rPr>
              <a:t>slide</a:t>
            </a:r>
            <a:endParaRPr lang="en-GB"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GB" sz="2000" b="0" u="none" strike="noStrike">
                <a:solidFill>
                  <a:srgbClr val="000000"/>
                </a:solidFill>
                <a:effectLst/>
                <a:uFillTx/>
                <a:latin typeface="Arial"/>
              </a:rPr>
              <a:t>Click to </a:t>
            </a:r>
            <a:r>
              <a:rPr lang="en-GB" sz="2000" b="0" u="none" strike="noStrike">
                <a:solidFill>
                  <a:srgbClr val="000000"/>
                </a:solidFill>
                <a:effectLst/>
                <a:uFillTx/>
                <a:latin typeface="Arial"/>
              </a:rPr>
              <a:t>edit the </a:t>
            </a:r>
            <a:r>
              <a:rPr lang="en-GB" sz="2000" b="0" u="none" strike="noStrike">
                <a:solidFill>
                  <a:srgbClr val="000000"/>
                </a:solidFill>
                <a:effectLst/>
                <a:uFillTx/>
                <a:latin typeface="Arial"/>
              </a:rPr>
              <a:t>notes </a:t>
            </a:r>
            <a:r>
              <a:rPr lang="en-GB" sz="2000" b="0" u="none" strike="noStrike">
                <a:solidFill>
                  <a:srgbClr val="000000"/>
                </a:solidFill>
                <a:effectLst/>
                <a:uFillTx/>
                <a:latin typeface="Arial"/>
              </a:rPr>
              <a:t>format</a:t>
            </a:r>
            <a:endParaRPr lang="en-GB"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GB" sz="1400" b="0" u="none" strike="noStrike">
                <a:solidFill>
                  <a:srgbClr val="000000"/>
                </a:solidFill>
                <a:effectLst/>
                <a:uFillTx/>
                <a:latin typeface="Times New Roman"/>
              </a:defRPr>
            </a:lvl1pPr>
          </a:lstStyle>
          <a:p>
            <a:pPr indent="0" algn="r">
              <a:buNone/>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GB" sz="1400" b="0" u="none" strike="noStrike">
                <a:solidFill>
                  <a:srgbClr val="000000"/>
                </a:solidFill>
                <a:effectLst/>
                <a:uFillTx/>
                <a:latin typeface="Times New Roman"/>
              </a:defRPr>
            </a:lvl1pPr>
          </a:lstStyle>
          <a:p>
            <a:pPr indent="0" algn="l">
              <a:buNone/>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u="none" strike="noStrike">
                <a:solidFill>
                  <a:srgbClr val="000000"/>
                </a:solidFill>
                <a:effectLst/>
                <a:uFillTx/>
                <a:latin typeface="Times New Roman"/>
              </a:defRPr>
            </a:lvl1pPr>
          </a:lstStyle>
          <a:p>
            <a:pPr indent="0" algn="r">
              <a:buNone/>
            </a:pPr>
            <a:fld id="{5979BB8B-DA8C-4AC1-A157-5C7AA38AE135}" type="slidenum">
              <a:rPr lang="en-GB" sz="1400" b="0" u="none" strike="noStrike">
                <a:solidFill>
                  <a:srgbClr val="000000"/>
                </a:solidFill>
                <a:effectLst/>
                <a:uFillTx/>
                <a:latin typeface="Times New Roman"/>
              </a:rPr>
              <a:t>1</a:t>
            </a:fld>
            <a:endParaRPr lang="en-GB"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sldImg"/>
          </p:nvPr>
        </p:nvSpPr>
        <p:spPr>
          <a:xfrm>
            <a:off x="685800" y="1143000"/>
            <a:ext cx="5485680" cy="3085560"/>
          </a:xfrm>
          <a:prstGeom prst="rect">
            <a:avLst/>
          </a:prstGeom>
          <a:ln w="0">
            <a:noFill/>
          </a:ln>
        </p:spPr>
      </p:sp>
      <p:sp>
        <p:nvSpPr>
          <p:cNvPr id="15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GB" sz="1800" b="0" u="none" strike="noStrike">
              <a:solidFill>
                <a:srgbClr val="000000"/>
              </a:solidFill>
              <a:effectLst/>
              <a:uFillTx/>
              <a:latin typeface="Arial"/>
            </a:endParaRPr>
          </a:p>
        </p:txBody>
      </p:sp>
      <p:sp>
        <p:nvSpPr>
          <p:cNvPr id="151"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AFED353-2886-4B02-9700-F8D5613C0F9C}"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sldImg"/>
          </p:nvPr>
        </p:nvSpPr>
        <p:spPr>
          <a:xfrm>
            <a:off x="685800" y="1143000"/>
            <a:ext cx="5485680" cy="3085560"/>
          </a:xfrm>
          <a:prstGeom prst="rect">
            <a:avLst/>
          </a:prstGeom>
          <a:ln w="0">
            <a:noFill/>
          </a:ln>
        </p:spPr>
      </p:sp>
      <p:sp>
        <p:nvSpPr>
          <p:cNvPr id="15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Introduce the system: buttons → ATmega32 → MOSFET → motor. Explain the LED indicators show current speed level.</a:t>
            </a:r>
            <a:endParaRPr lang="en-GB" sz="2000" b="0" u="none" strike="noStrike">
              <a:solidFill>
                <a:srgbClr val="000000"/>
              </a:solidFill>
              <a:effectLst/>
              <a:uFillTx/>
              <a:latin typeface="Arial"/>
            </a:endParaRPr>
          </a:p>
        </p:txBody>
      </p:sp>
      <p:sp>
        <p:nvSpPr>
          <p:cNvPr id="154" name="PlaceHolder 3"/>
          <p:cNvSpPr>
            <a:spLocks noGrp="1"/>
          </p:cNvSpPr>
          <p:nvPr>
            <p:ph type="sldNum" idx="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C47D95E-210B-4DB5-B22D-0D3E254218BD}"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sldImg"/>
          </p:nvPr>
        </p:nvSpPr>
        <p:spPr>
          <a:xfrm>
            <a:off x="685800" y="1143000"/>
            <a:ext cx="5485680" cy="3085560"/>
          </a:xfrm>
          <a:prstGeom prst="rect">
            <a:avLst/>
          </a:prstGeom>
          <a:ln w="0">
            <a:noFill/>
          </a:ln>
        </p:spPr>
      </p:sp>
      <p:sp>
        <p:nvSpPr>
          <p:cNvPr id="15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Show the full system block diagram here. Explain the signal flow from push buttons through the ATmega32 to the motor driver and DC motor. Mention the feedback path via LED indicators.</a:t>
            </a:r>
            <a:endParaRPr lang="en-GB" sz="2000" b="0" u="none" strike="noStrike">
              <a:solidFill>
                <a:srgbClr val="000000"/>
              </a:solidFill>
              <a:effectLst/>
              <a:uFillTx/>
              <a:latin typeface="Arial"/>
            </a:endParaRPr>
          </a:p>
        </p:txBody>
      </p:sp>
      <p:sp>
        <p:nvSpPr>
          <p:cNvPr id="157" name="PlaceHolder 3"/>
          <p:cNvSpPr>
            <a:spLocks noGrp="1"/>
          </p:cNvSpPr>
          <p:nvPr>
            <p:ph type="sldNum" idx="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BC8A0B8-EF34-41F8-A22D-05496082B127}"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sldImg"/>
          </p:nvPr>
        </p:nvSpPr>
        <p:spPr>
          <a:xfrm>
            <a:off x="685800" y="1143000"/>
            <a:ext cx="5485680" cy="3085560"/>
          </a:xfrm>
          <a:prstGeom prst="rect">
            <a:avLst/>
          </a:prstGeom>
          <a:ln w="0">
            <a:noFill/>
          </a:ln>
        </p:spPr>
      </p:sp>
      <p:sp>
        <p:nvSpPr>
          <p:cNvPr id="15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Walk through the schematic. Point out: PB3 PWM signal path through 220Ω to MOSFET gate. PA0-PA2 button inputs with internal pull-ups. PB0-PB2 LED outputs. Crystal oscillator circuit. Flyback diode across motor.</a:t>
            </a:r>
            <a:endParaRPr lang="en-GB" sz="2000" b="0" u="none" strike="noStrike">
              <a:solidFill>
                <a:srgbClr val="000000"/>
              </a:solidFill>
              <a:effectLst/>
              <a:uFillTx/>
              <a:latin typeface="Arial"/>
            </a:endParaRPr>
          </a:p>
        </p:txBody>
      </p:sp>
      <p:sp>
        <p:nvSpPr>
          <p:cNvPr id="160"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43A4373-0482-4F6C-B82D-56CC0F3464F6}"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sldImg"/>
          </p:nvPr>
        </p:nvSpPr>
        <p:spPr>
          <a:xfrm>
            <a:off x="685800" y="1143000"/>
            <a:ext cx="5485680" cy="3085560"/>
          </a:xfrm>
          <a:prstGeom prst="rect">
            <a:avLst/>
          </a:prstGeom>
          <a:ln w="0">
            <a:noFill/>
          </a:ln>
        </p:spPr>
      </p:sp>
      <p:sp>
        <p:nvSpPr>
          <p:cNvPr id="16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Show the PCB layout. Point out: motor driver section placed away from crystal to reduce noise. Wider traces for motor power path. DRC and ERC were run and passed before Gerber export.</a:t>
            </a:r>
            <a:endParaRPr lang="en-GB" sz="2000" b="0" u="none" strike="noStrike">
              <a:solidFill>
                <a:srgbClr val="000000"/>
              </a:solidFill>
              <a:effectLst/>
              <a:uFillTx/>
              <a:latin typeface="Arial"/>
            </a:endParaRPr>
          </a:p>
        </p:txBody>
      </p:sp>
      <p:sp>
        <p:nvSpPr>
          <p:cNvPr id="163"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C51E0EC-228B-4C81-9C1D-003868A1CE45}"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sldImg"/>
          </p:nvPr>
        </p:nvSpPr>
        <p:spPr>
          <a:xfrm>
            <a:off x="685800" y="1143000"/>
            <a:ext cx="5485680" cy="3085560"/>
          </a:xfrm>
          <a:prstGeom prst="rect">
            <a:avLst/>
          </a:prstGeom>
          <a:ln w="0">
            <a:noFill/>
          </a:ln>
        </p:spPr>
      </p:sp>
      <p:sp>
        <p:nvSpPr>
          <p:cNvPr id="16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Explain PWM formula, OCR0 values for each level, and Timer0 TCCR0 register settings. Frequency is fixed at 31.25 kHz — only duty cycle changes.</a:t>
            </a:r>
            <a:endParaRPr lang="en-GB" sz="2000" b="0" u="none" strike="noStrike">
              <a:solidFill>
                <a:srgbClr val="000000"/>
              </a:solidFill>
              <a:effectLst/>
              <a:uFillTx/>
              <a:latin typeface="Arial"/>
            </a:endParaRPr>
          </a:p>
        </p:txBody>
      </p:sp>
      <p:sp>
        <p:nvSpPr>
          <p:cNvPr id="166"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2795E4F-9D43-4E18-9708-FCC1491398CD}"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sldImg"/>
          </p:nvPr>
        </p:nvSpPr>
        <p:spPr>
          <a:xfrm>
            <a:off x="685800" y="1143000"/>
            <a:ext cx="5485680" cy="3085560"/>
          </a:xfrm>
          <a:prstGeom prst="rect">
            <a:avLst/>
          </a:prstGeom>
          <a:ln w="0">
            <a:noFill/>
          </a:ln>
        </p:spPr>
      </p:sp>
      <p:sp>
        <p:nvSpPr>
          <p:cNvPr id="16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Walk through the main firmware loop. Show button logic and safety limits. Mention software debounce and safe startup.</a:t>
            </a:r>
            <a:endParaRPr lang="en-GB" sz="2000" b="0" u="none" strike="noStrike">
              <a:solidFill>
                <a:srgbClr val="000000"/>
              </a:solidFill>
              <a:effectLst/>
              <a:uFillTx/>
              <a:latin typeface="Arial"/>
            </a:endParaRPr>
          </a:p>
        </p:txBody>
      </p:sp>
      <p:sp>
        <p:nvSpPr>
          <p:cNvPr id="169"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DCC3991-1307-4BAD-A159-2FA11BE33883}"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sldImg"/>
          </p:nvPr>
        </p:nvSpPr>
        <p:spPr>
          <a:xfrm>
            <a:off x="685800" y="1143000"/>
            <a:ext cx="5485680" cy="3085560"/>
          </a:xfrm>
          <a:prstGeom prst="rect">
            <a:avLst/>
          </a:prstGeom>
          <a:ln w="0">
            <a:noFill/>
          </a:ln>
        </p:spPr>
      </p:sp>
      <p:sp>
        <p:nvSpPr>
          <p:cNvPr id="17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Show the SimulIDE simulation running. Point to the oscilloscope PWM waveform. Walk through all 6 tests that passed.</a:t>
            </a:r>
            <a:endParaRPr lang="en-GB" sz="2000" b="0" u="none" strike="noStrike">
              <a:solidFill>
                <a:srgbClr val="000000"/>
              </a:solidFill>
              <a:effectLst/>
              <a:uFillTx/>
              <a:latin typeface="Arial"/>
            </a:endParaRPr>
          </a:p>
        </p:txBody>
      </p:sp>
      <p:sp>
        <p:nvSpPr>
          <p:cNvPr id="172"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0DE8FA8-DE9C-4E75-9F2E-27064E8D4981}"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sldImg"/>
          </p:nvPr>
        </p:nvSpPr>
        <p:spPr>
          <a:xfrm>
            <a:off x="685800" y="1143000"/>
            <a:ext cx="5485680" cy="3085560"/>
          </a:xfrm>
          <a:prstGeom prst="rect">
            <a:avLst/>
          </a:prstGeom>
          <a:ln w="0">
            <a:noFill/>
          </a:ln>
        </p:spPr>
      </p:sp>
      <p:sp>
        <p:nvSpPr>
          <p:cNvPr id="17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Show the GitHub repository structure. Explain what is in each folder: firmware source and hex, KiCad design files, SimulIDE simulation, documentation markdown files, and demo video link.</a:t>
            </a:r>
            <a:endParaRPr lang="en-GB" sz="2000" b="0" u="none" strike="noStrike">
              <a:solidFill>
                <a:srgbClr val="000000"/>
              </a:solidFill>
              <a:effectLst/>
              <a:uFillTx/>
              <a:latin typeface="Arial"/>
            </a:endParaRPr>
          </a:p>
        </p:txBody>
      </p:sp>
      <p:sp>
        <p:nvSpPr>
          <p:cNvPr id="175"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F5F019E-80AD-4CF7-A84E-F6031E46BDFC}"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Img"/>
          </p:nvPr>
        </p:nvSpPr>
        <p:spPr>
          <a:xfrm>
            <a:off x="685800" y="1143000"/>
            <a:ext cx="5485680" cy="3085560"/>
          </a:xfrm>
          <a:prstGeom prst="rect">
            <a:avLst/>
          </a:prstGeom>
          <a:ln w="0">
            <a:noFill/>
          </a:ln>
        </p:spPr>
      </p:sp>
      <p:sp>
        <p:nvSpPr>
          <p:cNvPr id="17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Summarize all 6 achievements. Mention the extension possibility.</a:t>
            </a:r>
            <a:endParaRPr lang="en-GB" sz="2000" b="0" u="none" strike="noStrike">
              <a:solidFill>
                <a:srgbClr val="000000"/>
              </a:solidFill>
              <a:effectLst/>
              <a:uFillTx/>
              <a:latin typeface="Arial"/>
            </a:endParaRPr>
          </a:p>
        </p:txBody>
      </p:sp>
      <p:sp>
        <p:nvSpPr>
          <p:cNvPr id="178"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1584504-06B5-4F98-ADEA-E52D5A174E40}"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sldImg"/>
          </p:nvPr>
        </p:nvSpPr>
        <p:spPr>
          <a:xfrm>
            <a:off x="685800" y="1143000"/>
            <a:ext cx="5485680" cy="3085560"/>
          </a:xfrm>
          <a:prstGeom prst="rect">
            <a:avLst/>
          </a:prstGeom>
          <a:ln w="0">
            <a:noFill/>
          </a:ln>
        </p:spPr>
      </p:sp>
      <p:sp>
        <p:nvSpPr>
          <p:cNvPr id="18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Open for questions. Be ready to show SimulIDE simulation live and walk through any section.</a:t>
            </a:r>
            <a:endParaRPr lang="en-GB" sz="2000" b="0" u="none" strike="noStrike">
              <a:solidFill>
                <a:srgbClr val="000000"/>
              </a:solidFill>
              <a:effectLst/>
              <a:uFillTx/>
              <a:latin typeface="Arial"/>
            </a:endParaRPr>
          </a:p>
        </p:txBody>
      </p:sp>
      <p:sp>
        <p:nvSpPr>
          <p:cNvPr id="181" name="PlaceHolder 3"/>
          <p:cNvSpPr>
            <a:spLocks noGrp="1"/>
          </p:cNvSpPr>
          <p:nvPr>
            <p:ph type="sldNum" idx="1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0FD10B4-BE4E-4E35-BBE2-6E43D533F425}"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l">
              <a:buNone/>
              <a:tabLst>
                <a:tab pos="0" algn="l"/>
              </a:tabLst>
              <a:defRPr lang="en-GB" sz="1800" b="0" u="none" strike="noStrike">
                <a:solidFill>
                  <a:schemeClr val="dk1"/>
                </a:solidFill>
                <a:effectLst/>
                <a:uFillTx/>
                <a:latin typeface="Calibri"/>
              </a:defRPr>
            </a:lvl1pPr>
          </a:lstStyle>
          <a:p>
            <a:pPr indent="0" algn="l">
              <a:buNone/>
              <a:tabLst>
                <a:tab pos="0" algn="l"/>
              </a:tabLst>
            </a:pPr>
            <a:r>
              <a:rPr lang="en-GB" sz="1800" b="0" u="none" strike="noStrike">
                <a:solidFill>
                  <a:schemeClr val="dk1"/>
                </a:solidFill>
                <a:effectLst/>
                <a:uFillTx/>
                <a:latin typeface="Calibri"/>
              </a:rPr>
              <a:t>Click to edit </a:t>
            </a:r>
            <a:r>
              <a:rPr lang="en-GB" sz="1800" b="0" u="none" strike="noStrike">
                <a:solidFill>
                  <a:schemeClr val="dk1"/>
                </a:solidFill>
                <a:effectLst/>
                <a:uFillTx/>
                <a:latin typeface="Calibri"/>
              </a:rPr>
              <a:t>the title text </a:t>
            </a:r>
            <a:r>
              <a:rPr lang="en-GB" sz="1800" b="0" u="none" strike="noStrike">
                <a:solidFill>
                  <a:schemeClr val="dk1"/>
                </a:solidFill>
                <a:effectLst/>
                <a:uFillTx/>
                <a:latin typeface="Calibri"/>
              </a:rPr>
              <a:t>format</a:t>
            </a:r>
            <a:endParaRPr lang="en-GB" sz="1800" b="0" u="none" strike="noStrike">
              <a:solidFill>
                <a:schemeClr val="dk1"/>
              </a:solidFill>
              <a:effectLst/>
              <a:uFillTx/>
              <a:latin typeface="Calibri"/>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GB"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GB"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GB"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GB"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GB"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GB"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GB" sz="2000" b="0" u="none" strike="noStrike">
                <a:solidFill>
                  <a:schemeClr val="dk1"/>
                </a:solidFill>
                <a:effectLst/>
                <a:uFillTx/>
                <a:latin typeface="Calibri"/>
              </a:defRPr>
            </a:lvl7pPr>
          </a:lstStyle>
          <a:p>
            <a:pPr indent="-324000" algn="l">
              <a:spcBef>
                <a:spcPts val="1417"/>
              </a:spcBef>
              <a:buClr>
                <a:srgbClr val="000000"/>
              </a:buClr>
              <a:buSzPct val="45000"/>
              <a:buFont typeface="Wingdings" charset="2"/>
              <a:buChar char=""/>
            </a:pPr>
            <a:r>
              <a:rPr lang="en-GB" sz="3200" b="0" u="none" strike="noStrike">
                <a:solidFill>
                  <a:schemeClr val="dk1"/>
                </a:solidFill>
                <a:effectLst/>
                <a:uFillTx/>
                <a:latin typeface="Calibri"/>
              </a:rPr>
              <a:t>Click to edit the outline text format</a:t>
            </a:r>
            <a:endParaRPr lang="en-GB"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GB" sz="2400" b="0" u="none" strike="noStrike">
                <a:solidFill>
                  <a:schemeClr val="dk1"/>
                </a:solidFill>
                <a:effectLst/>
                <a:uFillTx/>
                <a:latin typeface="Calibri"/>
              </a:rPr>
              <a:t>Second Outline Level</a:t>
            </a:r>
            <a:endParaRPr lang="en-GB"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GB" sz="2000" b="0" u="none" strike="noStrike">
                <a:solidFill>
                  <a:schemeClr val="dk1"/>
                </a:solidFill>
                <a:effectLst/>
                <a:uFillTx/>
                <a:latin typeface="Calibri"/>
              </a:rPr>
              <a:t>Third Outline Level</a:t>
            </a:r>
            <a:endParaRPr lang="en-GB"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GB" sz="2000" b="0" u="none" strike="noStrike">
                <a:solidFill>
                  <a:schemeClr val="dk1"/>
                </a:solidFill>
                <a:effectLst/>
                <a:uFillTx/>
                <a:latin typeface="Calibri"/>
              </a:rPr>
              <a:t>Fourth Outline Level</a:t>
            </a:r>
            <a:endParaRPr lang="en-GB"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GB" sz="2000" b="0" u="none" strike="noStrike">
                <a:solidFill>
                  <a:schemeClr val="dk1"/>
                </a:solidFill>
                <a:effectLst/>
                <a:uFillTx/>
                <a:latin typeface="Calibri"/>
              </a:rPr>
              <a:t>Fifth Outline Level</a:t>
            </a:r>
            <a:endParaRPr lang="en-GB"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GB" sz="2000" b="0" u="none" strike="noStrike">
                <a:solidFill>
                  <a:schemeClr val="dk1"/>
                </a:solidFill>
                <a:effectLst/>
                <a:uFillTx/>
                <a:latin typeface="Calibri"/>
              </a:rPr>
              <a:t>Sixth Outline Level</a:t>
            </a:r>
            <a:endParaRPr lang="en-GB"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GB" sz="2000" b="0" u="none" strike="noStrike">
                <a:solidFill>
                  <a:schemeClr val="dk1"/>
                </a:solidFill>
                <a:effectLst/>
                <a:uFillTx/>
                <a:latin typeface="Calibri"/>
              </a:rPr>
              <a:t>Seventh Outline Level</a:t>
            </a:r>
            <a:endParaRPr lang="en-GB"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0" name="Text 3"/>
          <p:cNvSpPr/>
          <p:nvPr/>
        </p:nvSpPr>
        <p:spPr>
          <a:xfrm>
            <a:off x="502920" y="1005840"/>
            <a:ext cx="2010960" cy="346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1A1A2E"/>
                </a:solidFill>
                <a:effectLst/>
                <a:uFillTx/>
                <a:latin typeface="Arial"/>
                <a:ea typeface="Arial"/>
              </a:rPr>
              <a:t>CT 321 — Project </a:t>
            </a:r>
            <a:endParaRPr lang="en-GB" sz="1000" b="0" u="none" strike="noStrike">
              <a:solidFill>
                <a:srgbClr val="FFFFFF"/>
              </a:solidFill>
              <a:effectLst/>
              <a:uFillTx/>
              <a:latin typeface="Arial"/>
            </a:endParaRPr>
          </a:p>
        </p:txBody>
      </p:sp>
      <p:sp>
        <p:nvSpPr>
          <p:cNvPr id="11" name="Text 4"/>
          <p:cNvSpPr/>
          <p:nvPr/>
        </p:nvSpPr>
        <p:spPr>
          <a:xfrm>
            <a:off x="1131120" y="606960"/>
            <a:ext cx="8228880" cy="776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200" b="1" u="none" strike="noStrike">
                <a:solidFill>
                  <a:srgbClr val="FFFFFF"/>
                </a:solidFill>
                <a:effectLst/>
                <a:uFillTx/>
                <a:latin typeface="Arial"/>
                <a:ea typeface="Arial"/>
              </a:rPr>
              <a:t>PW</a:t>
            </a:r>
            <a:r>
              <a:rPr lang="en-US" sz="4200" b="1" u="none" strike="noStrike">
                <a:solidFill>
                  <a:srgbClr val="FFFFFF"/>
                </a:solidFill>
                <a:effectLst/>
                <a:uFillTx/>
                <a:latin typeface="Arial"/>
                <a:ea typeface="Arial"/>
              </a:rPr>
              <a:t>M-</a:t>
            </a:r>
            <a:r>
              <a:rPr lang="en-US" sz="4200" b="1" u="none" strike="noStrike">
                <a:solidFill>
                  <a:srgbClr val="FFFFFF"/>
                </a:solidFill>
                <a:effectLst/>
                <a:uFillTx/>
                <a:latin typeface="Arial"/>
                <a:ea typeface="Arial"/>
              </a:rPr>
              <a:t>Bas</a:t>
            </a:r>
            <a:r>
              <a:rPr lang="en-US" sz="4200" b="1" u="none" strike="noStrike">
                <a:solidFill>
                  <a:srgbClr val="FFFFFF"/>
                </a:solidFill>
                <a:effectLst/>
                <a:uFillTx/>
                <a:latin typeface="Arial"/>
                <a:ea typeface="Arial"/>
              </a:rPr>
              <a:t>ed </a:t>
            </a:r>
            <a:r>
              <a:rPr lang="en-US" sz="4200" b="1" u="none" strike="noStrike">
                <a:solidFill>
                  <a:srgbClr val="FFFFFF"/>
                </a:solidFill>
                <a:effectLst/>
                <a:uFillTx/>
                <a:latin typeface="Arial"/>
                <a:ea typeface="Arial"/>
              </a:rPr>
              <a:t>DC </a:t>
            </a:r>
            <a:r>
              <a:rPr lang="en-US" sz="4200" b="1" u="none" strike="noStrike">
                <a:solidFill>
                  <a:srgbClr val="FFFFFF"/>
                </a:solidFill>
                <a:effectLst/>
                <a:uFillTx/>
                <a:latin typeface="Arial"/>
                <a:ea typeface="Arial"/>
              </a:rPr>
              <a:t>Mot</a:t>
            </a:r>
            <a:r>
              <a:rPr lang="en-US" sz="4200" b="1" u="none" strike="noStrike">
                <a:solidFill>
                  <a:srgbClr val="FFFFFF"/>
                </a:solidFill>
                <a:effectLst/>
                <a:uFillTx/>
                <a:latin typeface="Arial"/>
                <a:ea typeface="Arial"/>
              </a:rPr>
              <a:t>or</a:t>
            </a:r>
            <a:endParaRPr lang="en-GB" sz="4200" b="0" u="none" strike="noStrike">
              <a:solidFill>
                <a:srgbClr val="FFFFFF"/>
              </a:solidFill>
              <a:effectLst/>
              <a:uFillTx/>
              <a:latin typeface="Arial"/>
            </a:endParaRPr>
          </a:p>
        </p:txBody>
      </p:sp>
      <p:sp>
        <p:nvSpPr>
          <p:cNvPr id="12" name="Text 5"/>
          <p:cNvSpPr/>
          <p:nvPr/>
        </p:nvSpPr>
        <p:spPr>
          <a:xfrm>
            <a:off x="1080000" y="1383480"/>
            <a:ext cx="8228880" cy="776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200" b="1" u="none" strike="noStrike">
                <a:solidFill>
                  <a:srgbClr val="00B4D8"/>
                </a:solidFill>
                <a:effectLst/>
                <a:uFillTx/>
                <a:latin typeface="Arial"/>
                <a:ea typeface="Arial"/>
              </a:rPr>
              <a:t>Spe</a:t>
            </a:r>
            <a:r>
              <a:rPr lang="en-US" sz="4200" b="1" u="none" strike="noStrike">
                <a:solidFill>
                  <a:srgbClr val="00B4D8"/>
                </a:solidFill>
                <a:effectLst/>
                <a:uFillTx/>
                <a:latin typeface="Arial"/>
                <a:ea typeface="Arial"/>
              </a:rPr>
              <a:t>ed </a:t>
            </a:r>
            <a:r>
              <a:rPr lang="en-US" sz="4200" b="1" u="none" strike="noStrike">
                <a:solidFill>
                  <a:srgbClr val="00B4D8"/>
                </a:solidFill>
                <a:effectLst/>
                <a:uFillTx/>
                <a:latin typeface="Arial"/>
                <a:ea typeface="Arial"/>
              </a:rPr>
              <a:t>Con</a:t>
            </a:r>
            <a:r>
              <a:rPr lang="en-US" sz="4200" b="1" u="none" strike="noStrike">
                <a:solidFill>
                  <a:srgbClr val="00B4D8"/>
                </a:solidFill>
                <a:effectLst/>
                <a:uFillTx/>
                <a:latin typeface="Arial"/>
                <a:ea typeface="Arial"/>
              </a:rPr>
              <a:t>trol </a:t>
            </a:r>
            <a:r>
              <a:rPr lang="en-US" sz="4200" b="1" u="none" strike="noStrike">
                <a:solidFill>
                  <a:srgbClr val="00B4D8"/>
                </a:solidFill>
                <a:effectLst/>
                <a:uFillTx/>
                <a:latin typeface="Arial"/>
                <a:ea typeface="Arial"/>
              </a:rPr>
              <a:t>Syst</a:t>
            </a:r>
            <a:r>
              <a:rPr lang="en-US" sz="4200" b="1" u="none" strike="noStrike">
                <a:solidFill>
                  <a:srgbClr val="00B4D8"/>
                </a:solidFill>
                <a:effectLst/>
                <a:uFillTx/>
                <a:latin typeface="Arial"/>
                <a:ea typeface="Arial"/>
              </a:rPr>
              <a:t>em</a:t>
            </a:r>
            <a:endParaRPr lang="en-GB" sz="4200" b="0" u="none" strike="noStrike">
              <a:solidFill>
                <a:srgbClr val="FFFFFF"/>
              </a:solidFill>
              <a:effectLst/>
              <a:uFillTx/>
              <a:latin typeface="Arial"/>
            </a:endParaRPr>
          </a:p>
        </p:txBody>
      </p:sp>
      <p:sp>
        <p:nvSpPr>
          <p:cNvPr id="13" name="Text 8"/>
          <p:cNvSpPr/>
          <p:nvPr/>
        </p:nvSpPr>
        <p:spPr>
          <a:xfrm>
            <a:off x="3139920" y="2560680"/>
            <a:ext cx="64000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B0C4D8"/>
                </a:solidFill>
                <a:effectLst/>
                <a:uFillTx/>
                <a:latin typeface="Arial"/>
                <a:ea typeface="Arial"/>
              </a:rPr>
              <a:t>GROUP NO </a:t>
            </a:r>
            <a:r>
              <a:rPr lang="en-US" sz="1400" b="0" u="none" strike="noStrike">
                <a:solidFill>
                  <a:srgbClr val="B0C4D8"/>
                </a:solidFill>
                <a:effectLst/>
                <a:uFillTx/>
                <a:latin typeface="Arial"/>
                <a:ea typeface="Arial"/>
              </a:rPr>
              <a:t>10 </a:t>
            </a:r>
            <a:endParaRPr lang="en-GB" sz="1400" b="0" u="none" strike="noStrike">
              <a:solidFill>
                <a:srgbClr val="FFFFFF"/>
              </a:solidFill>
              <a:effectLst/>
              <a:uFillTx/>
              <a:latin typeface="Arial"/>
            </a:endParaRPr>
          </a:p>
        </p:txBody>
      </p:sp>
      <p:graphicFrame>
        <p:nvGraphicFramePr>
          <p:cNvPr id="14" name=""/>
          <p:cNvGraphicFramePr/>
          <p:nvPr/>
        </p:nvGraphicFramePr>
        <p:xfrm>
          <a:off x="1625400" y="3087720"/>
          <a:ext cx="4799520" cy="1695240"/>
        </p:xfrm>
        <a:graphic>
          <a:graphicData uri="http://schemas.openxmlformats.org/drawingml/2006/table">
            <a:tbl>
              <a:tblPr/>
              <a:tblGrid>
                <a:gridCol w="2107800"/>
                <a:gridCol w="1454400"/>
                <a:gridCol w="1237680"/>
              </a:tblGrid>
              <a:tr h="-71280">
                <a:tc>
                  <a:txBody>
                    <a:bodyPr lIns="36000" tIns="36000" rIns="36000" bIns="36000" anchor="t">
                      <a:noAutofit/>
                    </a:bodyPr>
                    <a:p>
                      <a:r>
                        <a:rPr lang="en-GB" sz="1800" b="0" u="none" strike="noStrike">
                          <a:solidFill>
                            <a:srgbClr val="EEEEEE"/>
                          </a:solidFill>
                          <a:effectLst/>
                          <a:uFillTx/>
                          <a:latin typeface="Arial"/>
                        </a:rPr>
                        <a:t>      </a:t>
                      </a:r>
                      <a:r>
                        <a:rPr lang="en-GB" sz="1300" b="0" u="none" strike="noStrike">
                          <a:solidFill>
                            <a:srgbClr val="EEEEEE"/>
                          </a:solidFill>
                          <a:effectLst/>
                          <a:uFillTx/>
                          <a:latin typeface="Arial"/>
                        </a:rPr>
                        <a:t>NAM</a:t>
                      </a:r>
                      <a:r>
                        <a:rPr lang="en-GB" sz="1300" b="0" u="none" strike="noStrike">
                          <a:solidFill>
                            <a:srgbClr val="EEEEEE"/>
                          </a:solidFill>
                          <a:effectLst/>
                          <a:uFillTx/>
                          <a:latin typeface="Arial"/>
                        </a:rPr>
                        <a:t>ES</a:t>
                      </a:r>
                      <a:endParaRPr lang="en-GB" sz="1300" b="0" u="none" strike="noStrike">
                        <a:solidFill>
                          <a:srgbClr val="EEEEEE"/>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300" b="0" u="none" strike="noStrike">
                          <a:solidFill>
                            <a:srgbClr val="EEEEEE"/>
                          </a:solidFill>
                          <a:effectLst/>
                          <a:uFillTx/>
                          <a:latin typeface="Arial"/>
                        </a:rPr>
                        <a:t> REG </a:t>
                      </a:r>
                      <a:r>
                        <a:rPr lang="en-GB" sz="1300" b="0" u="none" strike="noStrike">
                          <a:solidFill>
                            <a:srgbClr val="EEEEEE"/>
                          </a:solidFill>
                          <a:effectLst/>
                          <a:uFillTx/>
                          <a:latin typeface="Arial"/>
                        </a:rPr>
                        <a:t>NO</a:t>
                      </a:r>
                      <a:endParaRPr lang="en-GB" sz="1300" b="0" u="none" strike="noStrike">
                        <a:solidFill>
                          <a:srgbClr val="EEEEEE"/>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300" b="0" u="none" strike="noStrike">
                          <a:solidFill>
                            <a:srgbClr val="EEEEEE"/>
                          </a:solidFill>
                          <a:effectLst/>
                          <a:uFillTx/>
                          <a:latin typeface="Arial"/>
                        </a:rPr>
                        <a:t>COU</a:t>
                      </a:r>
                      <a:r>
                        <a:rPr lang="en-GB" sz="1300" b="0" u="none" strike="noStrike">
                          <a:solidFill>
                            <a:srgbClr val="EEEEEE"/>
                          </a:solidFill>
                          <a:effectLst/>
                          <a:uFillTx/>
                          <a:latin typeface="Arial"/>
                        </a:rPr>
                        <a:t>RSE</a:t>
                      </a:r>
                      <a:endParaRPr lang="en-GB" sz="1300" b="0" u="none" strike="noStrike">
                        <a:solidFill>
                          <a:srgbClr val="EEEEEE"/>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tIns="36000" rIns="36000" bIns="36000" anchor="t">
                      <a:noAutofit/>
                    </a:bodyPr>
                    <a:p>
                      <a:r>
                        <a:rPr lang="en-GB" sz="1200" b="0" u="none" strike="noStrike">
                          <a:solidFill>
                            <a:srgbClr val="EEEEEE"/>
                          </a:solidFill>
                          <a:effectLst/>
                          <a:uFillTx/>
                          <a:latin typeface="Arial"/>
                        </a:rPr>
                        <a:t>NISA</a:t>
                      </a:r>
                      <a:r>
                        <a:rPr lang="en-GB" sz="1200" b="0" u="none" strike="noStrike">
                          <a:solidFill>
                            <a:srgbClr val="EEEEEE"/>
                          </a:solidFill>
                          <a:effectLst/>
                          <a:uFillTx/>
                          <a:latin typeface="Arial"/>
                        </a:rPr>
                        <a:t>GUR</a:t>
                      </a:r>
                      <a:r>
                        <a:rPr lang="en-GB" sz="1200" b="0" u="none" strike="noStrike">
                          <a:solidFill>
                            <a:srgbClr val="EEEEEE"/>
                          </a:solidFill>
                          <a:effectLst/>
                          <a:uFillTx/>
                          <a:latin typeface="Arial"/>
                        </a:rPr>
                        <a:t>WE S </a:t>
                      </a:r>
                      <a:r>
                        <a:rPr lang="en-GB" sz="1200" b="0" u="none" strike="noStrike">
                          <a:solidFill>
                            <a:srgbClr val="EEEEEE"/>
                          </a:solidFill>
                          <a:effectLst/>
                          <a:uFillTx/>
                          <a:latin typeface="Arial"/>
                        </a:rPr>
                        <a:t>AGOS</a:t>
                      </a:r>
                      <a:r>
                        <a:rPr lang="en-GB" sz="1200" b="0" u="none" strike="noStrike">
                          <a:solidFill>
                            <a:srgbClr val="EEEEEE"/>
                          </a:solidFill>
                          <a:effectLst/>
                          <a:uFillTx/>
                          <a:latin typeface="Arial"/>
                        </a:rPr>
                        <a:t>TINO</a:t>
                      </a:r>
                      <a:endParaRPr lang="en-GB" sz="1200" b="0" u="none" strike="noStrike">
                        <a:solidFill>
                          <a:srgbClr val="EEEEEE"/>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200" b="0" u="none" strike="noStrike">
                          <a:solidFill>
                            <a:srgbClr val="EEEEEE"/>
                          </a:solidFill>
                          <a:effectLst/>
                          <a:uFillTx/>
                          <a:latin typeface="Arial"/>
                        </a:rPr>
                        <a:t>T23-</a:t>
                      </a:r>
                      <a:r>
                        <a:rPr lang="en-GB" sz="1200" b="0" u="none" strike="noStrike">
                          <a:solidFill>
                            <a:srgbClr val="EEEEEE"/>
                          </a:solidFill>
                          <a:effectLst/>
                          <a:uFillTx/>
                          <a:latin typeface="Arial"/>
                        </a:rPr>
                        <a:t>03-</a:t>
                      </a:r>
                      <a:r>
                        <a:rPr lang="en-GB" sz="1200" b="0" u="none" strike="noStrike">
                          <a:solidFill>
                            <a:srgbClr val="EEEEEE"/>
                          </a:solidFill>
                          <a:effectLst/>
                          <a:uFillTx/>
                          <a:latin typeface="Arial"/>
                        </a:rPr>
                        <a:t>14465</a:t>
                      </a:r>
                      <a:endParaRPr lang="en-GB" sz="1200" b="0" u="none" strike="noStrike">
                        <a:solidFill>
                          <a:srgbClr val="EEEEEE"/>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800" b="0" u="none" strike="noStrike">
                          <a:solidFill>
                            <a:srgbClr val="EEEEEE"/>
                          </a:solidFill>
                          <a:effectLst/>
                          <a:uFillTx/>
                          <a:latin typeface="Arial"/>
                        </a:rPr>
                        <a:t>   </a:t>
                      </a:r>
                      <a:r>
                        <a:rPr lang="en-GB" sz="1200" b="0" u="none" strike="noStrike">
                          <a:solidFill>
                            <a:srgbClr val="EEEEEE"/>
                          </a:solidFill>
                          <a:effectLst/>
                          <a:uFillTx/>
                          <a:latin typeface="Arial"/>
                        </a:rPr>
                        <a:t>BSc.C</a:t>
                      </a:r>
                      <a:r>
                        <a:rPr lang="en-GB" sz="1200" b="0" u="none" strike="noStrike">
                          <a:solidFill>
                            <a:srgbClr val="EEEEEE"/>
                          </a:solidFill>
                          <a:effectLst/>
                          <a:uFillTx/>
                          <a:latin typeface="Arial"/>
                        </a:rPr>
                        <a:t>E</a:t>
                      </a:r>
                      <a:endParaRPr lang="en-GB" sz="1200" b="0" u="none" strike="noStrike">
                        <a:solidFill>
                          <a:srgbClr val="EEEEEE"/>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tIns="36000" rIns="36000" bIns="36000" anchor="t">
                      <a:noAutofit/>
                    </a:bodyPr>
                    <a:p>
                      <a:r>
                        <a:rPr lang="en-GB" sz="1200" b="0" u="none" strike="noStrike">
                          <a:solidFill>
                            <a:srgbClr val="EEEEEE"/>
                          </a:solidFill>
                          <a:effectLst/>
                          <a:uFillTx/>
                          <a:latin typeface="Arial"/>
                        </a:rPr>
                        <a:t>DAVID </a:t>
                      </a:r>
                      <a:r>
                        <a:rPr lang="en-GB" sz="1200" b="0" u="none" strike="noStrike">
                          <a:solidFill>
                            <a:srgbClr val="EEEEEE"/>
                          </a:solidFill>
                          <a:effectLst/>
                          <a:uFillTx/>
                          <a:latin typeface="Arial"/>
                        </a:rPr>
                        <a:t>DANI</a:t>
                      </a:r>
                      <a:r>
                        <a:rPr lang="en-GB" sz="1200" b="0" u="none" strike="noStrike">
                          <a:solidFill>
                            <a:srgbClr val="EEEEEE"/>
                          </a:solidFill>
                          <a:effectLst/>
                          <a:uFillTx/>
                          <a:latin typeface="Arial"/>
                        </a:rPr>
                        <a:t>EL </a:t>
                      </a:r>
                      <a:r>
                        <a:rPr lang="en-GB" sz="1200" b="0" u="none" strike="noStrike">
                          <a:solidFill>
                            <a:srgbClr val="EEEEEE"/>
                          </a:solidFill>
                          <a:effectLst/>
                          <a:uFillTx/>
                          <a:latin typeface="Arial"/>
                        </a:rPr>
                        <a:t>DAVID</a:t>
                      </a:r>
                      <a:endParaRPr lang="en-GB" sz="1200" b="0" u="none" strike="noStrike">
                        <a:solidFill>
                          <a:srgbClr val="EEEEEE"/>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200" b="0" u="none" strike="noStrike">
                          <a:solidFill>
                            <a:srgbClr val="EEEEEE"/>
                          </a:solidFill>
                          <a:effectLst/>
                          <a:uFillTx/>
                          <a:latin typeface="Arial"/>
                        </a:rPr>
                        <a:t>T23-</a:t>
                      </a:r>
                      <a:r>
                        <a:rPr lang="en-GB" sz="1200" b="0" u="none" strike="noStrike">
                          <a:solidFill>
                            <a:srgbClr val="EEEEEE"/>
                          </a:solidFill>
                          <a:effectLst/>
                          <a:uFillTx/>
                          <a:latin typeface="Arial"/>
                        </a:rPr>
                        <a:t>03-</a:t>
                      </a:r>
                      <a:r>
                        <a:rPr lang="en-GB" sz="1200" b="0" u="none" strike="noStrike">
                          <a:solidFill>
                            <a:srgbClr val="EEEEEE"/>
                          </a:solidFill>
                          <a:effectLst/>
                          <a:uFillTx/>
                          <a:latin typeface="Arial"/>
                        </a:rPr>
                        <a:t>15326</a:t>
                      </a:r>
                      <a:endParaRPr lang="en-GB" sz="1200" b="0" u="none" strike="noStrike">
                        <a:solidFill>
                          <a:srgbClr val="EEEEEE"/>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800" b="0" u="none" strike="noStrike">
                          <a:solidFill>
                            <a:srgbClr val="EEEEEE"/>
                          </a:solidFill>
                          <a:effectLst/>
                          <a:uFillTx/>
                          <a:latin typeface="Arial"/>
                          <a:ea typeface="Noto Sans"/>
                        </a:rPr>
                        <a:t>   </a:t>
                      </a:r>
                      <a:r>
                        <a:rPr lang="en-GB" sz="1200" b="0" u="none" strike="noStrike">
                          <a:solidFill>
                            <a:srgbClr val="EEEEEE"/>
                          </a:solidFill>
                          <a:effectLst/>
                          <a:uFillTx/>
                          <a:latin typeface="Arial"/>
                        </a:rPr>
                        <a:t>BSc.C</a:t>
                      </a:r>
                      <a:r>
                        <a:rPr lang="en-GB" sz="1200" b="0" u="none" strike="noStrike">
                          <a:solidFill>
                            <a:srgbClr val="EEEEEE"/>
                          </a:solidFill>
                          <a:effectLst/>
                          <a:uFillTx/>
                          <a:latin typeface="Arial"/>
                        </a:rPr>
                        <a:t>E</a:t>
                      </a:r>
                      <a:endParaRPr lang="en-GB" sz="1200" b="0" u="none" strike="noStrike">
                        <a:solidFill>
                          <a:srgbClr val="EEEEEE"/>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tIns="36000" rIns="36000" bIns="36000" anchor="t">
                      <a:noAutofit/>
                    </a:bodyPr>
                    <a:p>
                      <a:r>
                        <a:rPr lang="en-GB" sz="1200" b="0" u="none" strike="noStrike">
                          <a:solidFill>
                            <a:srgbClr val="EEEEEE"/>
                          </a:solidFill>
                          <a:effectLst/>
                          <a:uFillTx/>
                          <a:latin typeface="Arial"/>
                        </a:rPr>
                        <a:t>DENNIS MARIWA </a:t>
                      </a:r>
                      <a:endParaRPr lang="en-GB" sz="1200" b="0" u="none" strike="noStrike">
                        <a:solidFill>
                          <a:srgbClr val="EEEEEE"/>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200" b="0" u="none" strike="noStrike">
                          <a:solidFill>
                            <a:srgbClr val="EEEEEE"/>
                          </a:solidFill>
                          <a:effectLst/>
                          <a:uFillTx/>
                          <a:latin typeface="Arial"/>
                        </a:rPr>
                        <a:t>T23-03-19910</a:t>
                      </a:r>
                      <a:endParaRPr lang="en-GB" sz="1200" b="0" u="none" strike="noStrike">
                        <a:solidFill>
                          <a:srgbClr val="EEEEEE"/>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800" b="0" u="none" strike="noStrike">
                          <a:solidFill>
                            <a:srgbClr val="EEEEEE"/>
                          </a:solidFill>
                          <a:effectLst/>
                          <a:uFillTx/>
                          <a:latin typeface="Arial"/>
                        </a:rPr>
                        <a:t>   </a:t>
                      </a:r>
                      <a:r>
                        <a:rPr lang="en-GB" sz="1200" b="0" u="none" strike="noStrike">
                          <a:solidFill>
                            <a:srgbClr val="EEEEEE"/>
                          </a:solidFill>
                          <a:effectLst/>
                          <a:uFillTx/>
                          <a:latin typeface="Arial"/>
                        </a:rPr>
                        <a:t>BSc.CE</a:t>
                      </a:r>
                      <a:endParaRPr lang="en-GB" sz="1200" b="0" u="none" strike="noStrike">
                        <a:solidFill>
                          <a:srgbClr val="EEEEEE"/>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16000">
                <a:tc>
                  <a:txBody>
                    <a:bodyPr lIns="36000" tIns="36000" rIns="36000" bIns="36000" anchor="t">
                      <a:noAutofit/>
                    </a:bodyPr>
                    <a:p>
                      <a:r>
                        <a:rPr lang="en-GB" sz="1200" b="0" u="none" strike="noStrike">
                          <a:solidFill>
                            <a:srgbClr val="EEEEEE"/>
                          </a:solidFill>
                          <a:effectLst/>
                          <a:uFillTx/>
                          <a:latin typeface="Arial"/>
                        </a:rPr>
                        <a:t>EMMANUEL N FULUGE</a:t>
                      </a:r>
                      <a:endParaRPr lang="en-GB" sz="1200" b="0" u="none" strike="noStrike">
                        <a:solidFill>
                          <a:srgbClr val="EEEEEE"/>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200" b="0" u="none" strike="noStrike">
                          <a:solidFill>
                            <a:srgbClr val="EEEEEE"/>
                          </a:solidFill>
                          <a:effectLst/>
                          <a:uFillTx/>
                          <a:latin typeface="Arial"/>
                        </a:rPr>
                        <a:t>T23-03-15286</a:t>
                      </a:r>
                      <a:endParaRPr lang="en-GB" sz="1200" b="0" u="none" strike="noStrike">
                        <a:solidFill>
                          <a:srgbClr val="EEEEEE"/>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800" b="0" u="none" strike="noStrike">
                          <a:solidFill>
                            <a:srgbClr val="EEEEEE"/>
                          </a:solidFill>
                          <a:effectLst/>
                          <a:uFillTx/>
                          <a:latin typeface="Arial"/>
                        </a:rPr>
                        <a:t>   </a:t>
                      </a:r>
                      <a:r>
                        <a:rPr lang="en-GB" sz="1200" b="0" u="none" strike="noStrike">
                          <a:solidFill>
                            <a:srgbClr val="EEEEEE"/>
                          </a:solidFill>
                          <a:effectLst/>
                          <a:uFillTx/>
                          <a:latin typeface="Arial"/>
                        </a:rPr>
                        <a:t>BSc.CE</a:t>
                      </a:r>
                      <a:endParaRPr lang="en-GB" sz="1200" b="0" u="none" strike="noStrike">
                        <a:solidFill>
                          <a:srgbClr val="EEEEEE"/>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8FB"/>
        </a:solidFill>
      </p:bgPr>
    </p:bg>
    <p:spTree>
      <p:nvGrpSpPr>
        <p:cNvPr id="1" name=""/>
        <p:cNvGrpSpPr/>
        <p:nvPr/>
      </p:nvGrpSpPr>
      <p:grpSpPr>
        <a:xfrm>
          <a:off x="0" y="0"/>
          <a:ext cx="0" cy="0"/>
          <a:chOff x="0" y="0"/>
          <a:chExt cx="0" cy="0"/>
        </a:xfrm>
      </p:grpSpPr>
      <p:sp>
        <p:nvSpPr>
          <p:cNvPr id="15" name="Text 0"/>
          <p:cNvSpPr/>
          <p:nvPr/>
        </p:nvSpPr>
        <p:spPr>
          <a:xfrm>
            <a:off x="457200" y="255960"/>
            <a:ext cx="822888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A1A2E"/>
                </a:solidFill>
                <a:effectLst/>
                <a:uFillTx/>
                <a:latin typeface="Arial"/>
                <a:ea typeface="Arial"/>
              </a:rPr>
              <a:t>Projec</a:t>
            </a:r>
            <a:r>
              <a:rPr lang="en-US" sz="3000" b="1" u="none" strike="noStrike">
                <a:solidFill>
                  <a:srgbClr val="1A1A2E"/>
                </a:solidFill>
                <a:effectLst/>
                <a:uFillTx/>
                <a:latin typeface="Arial"/>
                <a:ea typeface="Arial"/>
              </a:rPr>
              <a:t>t </a:t>
            </a:r>
            <a:r>
              <a:rPr lang="en-US" sz="3000" b="1" u="none" strike="noStrike">
                <a:solidFill>
                  <a:srgbClr val="1A1A2E"/>
                </a:solidFill>
                <a:effectLst/>
                <a:uFillTx/>
                <a:latin typeface="Arial"/>
                <a:ea typeface="Arial"/>
              </a:rPr>
              <a:t>Overv</a:t>
            </a:r>
            <a:r>
              <a:rPr lang="en-US" sz="3000" b="1" u="none" strike="noStrike">
                <a:solidFill>
                  <a:srgbClr val="1A1A2E"/>
                </a:solidFill>
                <a:effectLst/>
                <a:uFillTx/>
                <a:latin typeface="Arial"/>
                <a:ea typeface="Arial"/>
              </a:rPr>
              <a:t>iew</a:t>
            </a:r>
            <a:endParaRPr lang="en-GB" sz="3000" b="0" u="none" strike="noStrike">
              <a:solidFill>
                <a:srgbClr val="000000"/>
              </a:solidFill>
              <a:effectLst/>
              <a:uFillTx/>
              <a:latin typeface="Arial"/>
            </a:endParaRPr>
          </a:p>
        </p:txBody>
      </p:sp>
      <p:sp>
        <p:nvSpPr>
          <p:cNvPr id="16" name="Shape 1"/>
          <p:cNvSpPr/>
          <p:nvPr/>
        </p:nvSpPr>
        <p:spPr>
          <a:xfrm>
            <a:off x="457200" y="960120"/>
            <a:ext cx="8229600" cy="360"/>
          </a:xfrm>
          <a:prstGeom prst="line">
            <a:avLst/>
          </a:prstGeom>
          <a:ln w="12700">
            <a:solidFill>
              <a:srgbClr val="C5DCE8"/>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17" name="Shape 2"/>
          <p:cNvSpPr/>
          <p:nvPr/>
        </p:nvSpPr>
        <p:spPr>
          <a:xfrm>
            <a:off x="365760" y="1097280"/>
            <a:ext cx="3931200" cy="959400"/>
          </a:xfrm>
          <a:prstGeom prst="roundRect">
            <a:avLst>
              <a:gd name="adj" fmla="val 11429"/>
            </a:avLst>
          </a:prstGeom>
          <a:solidFill>
            <a:srgbClr val="F0F7FA"/>
          </a:solidFill>
          <a:ln w="6350">
            <a:solidFill>
              <a:srgbClr val="D0E8F0"/>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8" name="Text 3"/>
          <p:cNvSpPr/>
          <p:nvPr/>
        </p:nvSpPr>
        <p:spPr>
          <a:xfrm>
            <a:off x="548640" y="1152000"/>
            <a:ext cx="3656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F3460"/>
                </a:solidFill>
                <a:effectLst/>
                <a:uFillTx/>
                <a:latin typeface="Arial"/>
                <a:ea typeface="Arial"/>
              </a:rPr>
              <a:t>Objective</a:t>
            </a:r>
            <a:endParaRPr lang="en-GB" sz="1300" b="0" u="none" strike="noStrike">
              <a:solidFill>
                <a:srgbClr val="000000"/>
              </a:solidFill>
              <a:effectLst/>
              <a:uFillTx/>
              <a:latin typeface="Arial"/>
            </a:endParaRPr>
          </a:p>
        </p:txBody>
      </p:sp>
      <p:sp>
        <p:nvSpPr>
          <p:cNvPr id="19" name="Text 4"/>
          <p:cNvSpPr/>
          <p:nvPr/>
        </p:nvSpPr>
        <p:spPr>
          <a:xfrm>
            <a:off x="548640" y="1463040"/>
            <a:ext cx="3656880" cy="502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A1A2E"/>
                </a:solidFill>
                <a:effectLst/>
                <a:uFillTx/>
                <a:latin typeface="Arial"/>
                <a:ea typeface="Arial"/>
              </a:rPr>
              <a:t>Design and implement a PWM-based DC motor speed control system using the ATmega32, with push-button speed control and </a:t>
            </a:r>
            <a:r>
              <a:rPr lang="en-US" sz="1100" b="0" u="none" strike="noStrike">
                <a:solidFill>
                  <a:srgbClr val="1A1A2E"/>
                </a:solidFill>
                <a:effectLst/>
                <a:uFillTx/>
                <a:latin typeface="Arial"/>
                <a:ea typeface="Arial"/>
              </a:rPr>
              <a:t>LED level indicators.</a:t>
            </a:r>
            <a:endParaRPr lang="en-GB" sz="1100" b="0" u="none" strike="noStrike">
              <a:solidFill>
                <a:srgbClr val="000000"/>
              </a:solidFill>
              <a:effectLst/>
              <a:uFillTx/>
              <a:latin typeface="Arial"/>
            </a:endParaRPr>
          </a:p>
        </p:txBody>
      </p:sp>
      <p:sp>
        <p:nvSpPr>
          <p:cNvPr id="20" name="Shape 5"/>
          <p:cNvSpPr/>
          <p:nvPr/>
        </p:nvSpPr>
        <p:spPr>
          <a:xfrm>
            <a:off x="4572000" y="1097280"/>
            <a:ext cx="4205520" cy="959400"/>
          </a:xfrm>
          <a:prstGeom prst="roundRect">
            <a:avLst>
              <a:gd name="adj" fmla="val 11429"/>
            </a:avLst>
          </a:prstGeom>
          <a:solidFill>
            <a:srgbClr val="F0F7FA"/>
          </a:solidFill>
          <a:ln w="6350">
            <a:solidFill>
              <a:srgbClr val="D0E8F0"/>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1" name="Text 6"/>
          <p:cNvSpPr/>
          <p:nvPr/>
        </p:nvSpPr>
        <p:spPr>
          <a:xfrm>
            <a:off x="4754880" y="1152000"/>
            <a:ext cx="383976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F3460"/>
                </a:solidFill>
                <a:effectLst/>
                <a:uFillTx/>
                <a:latin typeface="Arial"/>
                <a:ea typeface="Arial"/>
              </a:rPr>
              <a:t>Key Specifications</a:t>
            </a:r>
            <a:endParaRPr lang="en-GB" sz="1300" b="0" u="none" strike="noStrike">
              <a:solidFill>
                <a:srgbClr val="000000"/>
              </a:solidFill>
              <a:effectLst/>
              <a:uFillTx/>
              <a:latin typeface="Arial"/>
            </a:endParaRPr>
          </a:p>
        </p:txBody>
      </p:sp>
      <p:sp>
        <p:nvSpPr>
          <p:cNvPr id="22" name="Text 7"/>
          <p:cNvSpPr/>
          <p:nvPr/>
        </p:nvSpPr>
        <p:spPr>
          <a:xfrm>
            <a:off x="4754880" y="1463040"/>
            <a:ext cx="3839760" cy="50220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buClr>
                <a:srgbClr val="1A1A2E"/>
              </a:buClr>
              <a:buFont typeface="Symbol" charset="2"/>
              <a:buChar char=""/>
            </a:pPr>
            <a:r>
              <a:rPr lang="en-US" sz="1000" b="0" u="none" strike="noStrike">
                <a:solidFill>
                  <a:srgbClr val="1A1A2E"/>
                </a:solidFill>
                <a:effectLst/>
                <a:uFillTx/>
                <a:latin typeface="Arial"/>
                <a:ea typeface="Arial"/>
              </a:rPr>
              <a:t>PWM output: Timer0 / </a:t>
            </a:r>
            <a:r>
              <a:rPr lang="en-US" sz="1000" b="0" u="none" strike="noStrike">
                <a:solidFill>
                  <a:srgbClr val="1A1A2E"/>
                </a:solidFill>
                <a:effectLst/>
                <a:uFillTx/>
                <a:latin typeface="Arial"/>
                <a:ea typeface="Arial"/>
              </a:rPr>
              <a:t>OC0 / PB3</a:t>
            </a:r>
            <a:endParaRPr lang="en-GB" sz="1000" b="0" u="none" strike="noStrike">
              <a:solidFill>
                <a:srgbClr val="000000"/>
              </a:solidFill>
              <a:effectLst/>
              <a:uFillTx/>
              <a:latin typeface="Arial"/>
            </a:endParaRPr>
          </a:p>
          <a:p>
            <a:pPr marL="343080" indent="-343080" defTabSz="914400">
              <a:lnSpc>
                <a:spcPct val="100000"/>
              </a:lnSpc>
              <a:buClr>
                <a:srgbClr val="1A1A2E"/>
              </a:buClr>
              <a:buFont typeface="Symbol" charset="2"/>
              <a:buChar char=""/>
            </a:pPr>
            <a:r>
              <a:rPr lang="en-US" sz="1000" b="0" u="none" strike="noStrike">
                <a:solidFill>
                  <a:srgbClr val="1A1A2E"/>
                </a:solidFill>
                <a:effectLst/>
                <a:uFillTx/>
                <a:latin typeface="Arial"/>
                <a:ea typeface="Arial"/>
              </a:rPr>
              <a:t>5 speed levels: 0%, </a:t>
            </a:r>
            <a:r>
              <a:rPr lang="en-US" sz="1000" b="0" u="none" strike="noStrike">
                <a:solidFill>
                  <a:srgbClr val="1A1A2E"/>
                </a:solidFill>
                <a:effectLst/>
                <a:uFillTx/>
                <a:latin typeface="Arial"/>
                <a:ea typeface="Arial"/>
              </a:rPr>
              <a:t>25%, 50%, 75%, 100%</a:t>
            </a:r>
            <a:endParaRPr lang="en-GB" sz="1000" b="0" u="none" strike="noStrike">
              <a:solidFill>
                <a:srgbClr val="000000"/>
              </a:solidFill>
              <a:effectLst/>
              <a:uFillTx/>
              <a:latin typeface="Arial"/>
            </a:endParaRPr>
          </a:p>
          <a:p>
            <a:pPr marL="343080" indent="-343080" defTabSz="914400">
              <a:lnSpc>
                <a:spcPct val="100000"/>
              </a:lnSpc>
              <a:buClr>
                <a:srgbClr val="1A1A2E"/>
              </a:buClr>
              <a:buFont typeface="Symbol" charset="2"/>
              <a:buChar char=""/>
            </a:pPr>
            <a:r>
              <a:rPr lang="en-US" sz="1000" b="0" u="none" strike="noStrike">
                <a:solidFill>
                  <a:srgbClr val="1A1A2E"/>
                </a:solidFill>
                <a:effectLst/>
                <a:uFillTx/>
                <a:latin typeface="Arial"/>
                <a:ea typeface="Arial"/>
              </a:rPr>
              <a:t>External 8 MHz crystal </a:t>
            </a:r>
            <a:r>
              <a:rPr lang="en-US" sz="1000" b="0" u="none" strike="noStrike">
                <a:solidFill>
                  <a:srgbClr val="1A1A2E"/>
                </a:solidFill>
                <a:effectLst/>
                <a:uFillTx/>
                <a:latin typeface="Arial"/>
                <a:ea typeface="Arial"/>
              </a:rPr>
              <a:t>clock source</a:t>
            </a:r>
            <a:endParaRPr lang="en-GB" sz="1000" b="0" u="none" strike="noStrike">
              <a:solidFill>
                <a:srgbClr val="000000"/>
              </a:solidFill>
              <a:effectLst/>
              <a:uFillTx/>
              <a:latin typeface="Arial"/>
            </a:endParaRPr>
          </a:p>
        </p:txBody>
      </p:sp>
      <p:sp>
        <p:nvSpPr>
          <p:cNvPr id="23" name="Shape 8"/>
          <p:cNvSpPr/>
          <p:nvPr/>
        </p:nvSpPr>
        <p:spPr>
          <a:xfrm>
            <a:off x="365760" y="2240280"/>
            <a:ext cx="1919520" cy="1005120"/>
          </a:xfrm>
          <a:prstGeom prst="roundRect">
            <a:avLst>
              <a:gd name="adj" fmla="val 10909"/>
            </a:avLst>
          </a:prstGeom>
          <a:solidFill>
            <a:srgbClr val="0077B6"/>
          </a:solidFill>
          <a:ln w="12700">
            <a:solidFill>
              <a:srgbClr val="0077B6"/>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24" name="Text 9"/>
          <p:cNvSpPr/>
          <p:nvPr/>
        </p:nvSpPr>
        <p:spPr>
          <a:xfrm>
            <a:off x="365760" y="2350080"/>
            <a:ext cx="1919520" cy="328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rial"/>
                <a:ea typeface="Arial"/>
              </a:rPr>
              <a:t>P</a:t>
            </a:r>
            <a:r>
              <a:rPr lang="en-US" sz="1200" b="1" u="none" strike="noStrike">
                <a:solidFill>
                  <a:srgbClr val="FFFFFF"/>
                </a:solidFill>
                <a:effectLst/>
                <a:uFillTx/>
                <a:latin typeface="Arial"/>
                <a:ea typeface="Arial"/>
              </a:rPr>
              <a:t>u</a:t>
            </a:r>
            <a:r>
              <a:rPr lang="en-US" sz="1200" b="1" u="none" strike="noStrike">
                <a:solidFill>
                  <a:srgbClr val="FFFFFF"/>
                </a:solidFill>
                <a:effectLst/>
                <a:uFillTx/>
                <a:latin typeface="Arial"/>
                <a:ea typeface="Arial"/>
              </a:rPr>
              <a:t>s</a:t>
            </a:r>
            <a:r>
              <a:rPr lang="en-US" sz="1200" b="1" u="none" strike="noStrike">
                <a:solidFill>
                  <a:srgbClr val="FFFFFF"/>
                </a:solidFill>
                <a:effectLst/>
                <a:uFillTx/>
                <a:latin typeface="Arial"/>
                <a:ea typeface="Arial"/>
              </a:rPr>
              <a:t>h</a:t>
            </a:r>
            <a:r>
              <a:rPr lang="en-US" sz="1200" b="1" u="none" strike="noStrike">
                <a:solidFill>
                  <a:srgbClr val="FFFFFF"/>
                </a:solidFill>
                <a:effectLst/>
                <a:uFillTx/>
                <a:latin typeface="Arial"/>
                <a:ea typeface="Arial"/>
              </a:rPr>
              <a:t> </a:t>
            </a:r>
            <a:r>
              <a:rPr lang="en-US" sz="1200" b="1" u="none" strike="noStrike">
                <a:solidFill>
                  <a:srgbClr val="FFFFFF"/>
                </a:solidFill>
                <a:effectLst/>
                <a:uFillTx/>
                <a:latin typeface="Arial"/>
                <a:ea typeface="Arial"/>
              </a:rPr>
              <a:t>B</a:t>
            </a:r>
            <a:r>
              <a:rPr lang="en-US" sz="1200" b="1" u="none" strike="noStrike">
                <a:solidFill>
                  <a:srgbClr val="FFFFFF"/>
                </a:solidFill>
                <a:effectLst/>
                <a:uFillTx/>
                <a:latin typeface="Arial"/>
                <a:ea typeface="Arial"/>
              </a:rPr>
              <a:t>u</a:t>
            </a:r>
            <a:r>
              <a:rPr lang="en-US" sz="1200" b="1" u="none" strike="noStrike">
                <a:solidFill>
                  <a:srgbClr val="FFFFFF"/>
                </a:solidFill>
                <a:effectLst/>
                <a:uFillTx/>
                <a:latin typeface="Arial"/>
                <a:ea typeface="Arial"/>
              </a:rPr>
              <a:t>t</a:t>
            </a:r>
            <a:r>
              <a:rPr lang="en-US" sz="1200" b="1" u="none" strike="noStrike">
                <a:solidFill>
                  <a:srgbClr val="FFFFFF"/>
                </a:solidFill>
                <a:effectLst/>
                <a:uFillTx/>
                <a:latin typeface="Arial"/>
                <a:ea typeface="Arial"/>
              </a:rPr>
              <a:t>t</a:t>
            </a:r>
            <a:r>
              <a:rPr lang="en-US" sz="1200" b="1" u="none" strike="noStrike">
                <a:solidFill>
                  <a:srgbClr val="FFFFFF"/>
                </a:solidFill>
                <a:effectLst/>
                <a:uFillTx/>
                <a:latin typeface="Arial"/>
                <a:ea typeface="Arial"/>
              </a:rPr>
              <a:t>o</a:t>
            </a:r>
            <a:r>
              <a:rPr lang="en-US" sz="1200" b="1" u="none" strike="noStrike">
                <a:solidFill>
                  <a:srgbClr val="FFFFFF"/>
                </a:solidFill>
                <a:effectLst/>
                <a:uFillTx/>
                <a:latin typeface="Arial"/>
                <a:ea typeface="Arial"/>
              </a:rPr>
              <a:t>n</a:t>
            </a:r>
            <a:r>
              <a:rPr lang="en-US" sz="1200" b="1" u="none" strike="noStrike">
                <a:solidFill>
                  <a:srgbClr val="FFFFFF"/>
                </a:solidFill>
                <a:effectLst/>
                <a:uFillTx/>
                <a:latin typeface="Arial"/>
                <a:ea typeface="Arial"/>
              </a:rPr>
              <a:t>s</a:t>
            </a:r>
            <a:endParaRPr lang="en-GB" sz="1200" b="0" u="none" strike="noStrike">
              <a:solidFill>
                <a:srgbClr val="000000"/>
              </a:solidFill>
              <a:effectLst/>
              <a:uFillTx/>
              <a:latin typeface="Arial"/>
            </a:endParaRPr>
          </a:p>
        </p:txBody>
      </p:sp>
      <p:sp>
        <p:nvSpPr>
          <p:cNvPr id="25" name="Text 10"/>
          <p:cNvSpPr/>
          <p:nvPr/>
        </p:nvSpPr>
        <p:spPr>
          <a:xfrm>
            <a:off x="365760" y="2660760"/>
            <a:ext cx="1919520" cy="255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E0FBFC"/>
                </a:solidFill>
                <a:effectLst/>
                <a:uFillTx/>
                <a:latin typeface="Arial"/>
                <a:ea typeface="Arial"/>
              </a:rPr>
              <a:t>PA0  PA1  PA2</a:t>
            </a:r>
            <a:endParaRPr lang="en-GB" sz="1000" b="0" u="none" strike="noStrike">
              <a:solidFill>
                <a:srgbClr val="000000"/>
              </a:solidFill>
              <a:effectLst/>
              <a:uFillTx/>
              <a:latin typeface="Arial"/>
            </a:endParaRPr>
          </a:p>
        </p:txBody>
      </p:sp>
      <p:sp>
        <p:nvSpPr>
          <p:cNvPr id="26" name="Shape 11"/>
          <p:cNvSpPr/>
          <p:nvPr/>
        </p:nvSpPr>
        <p:spPr>
          <a:xfrm>
            <a:off x="2286000" y="2743200"/>
            <a:ext cx="228600" cy="360"/>
          </a:xfrm>
          <a:prstGeom prst="line">
            <a:avLst/>
          </a:prstGeom>
          <a:ln w="25400">
            <a:solidFill>
              <a:srgbClr val="0F3460"/>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27" name="Shape 12"/>
          <p:cNvSpPr/>
          <p:nvPr/>
        </p:nvSpPr>
        <p:spPr>
          <a:xfrm>
            <a:off x="2514600" y="2240280"/>
            <a:ext cx="1919520" cy="1005120"/>
          </a:xfrm>
          <a:prstGeom prst="roundRect">
            <a:avLst>
              <a:gd name="adj" fmla="val 10909"/>
            </a:avLst>
          </a:prstGeom>
          <a:solidFill>
            <a:srgbClr val="0096C7"/>
          </a:solidFill>
          <a:ln w="12700">
            <a:solidFill>
              <a:srgbClr val="0096C7"/>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28" name="Text 13"/>
          <p:cNvSpPr/>
          <p:nvPr/>
        </p:nvSpPr>
        <p:spPr>
          <a:xfrm>
            <a:off x="2514600" y="2350080"/>
            <a:ext cx="1919520" cy="328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rial"/>
                <a:ea typeface="Arial"/>
              </a:rPr>
              <a:t>ATmega32</a:t>
            </a:r>
            <a:endParaRPr lang="en-GB" sz="1200" b="0" u="none" strike="noStrike">
              <a:solidFill>
                <a:srgbClr val="000000"/>
              </a:solidFill>
              <a:effectLst/>
              <a:uFillTx/>
              <a:latin typeface="Arial"/>
            </a:endParaRPr>
          </a:p>
        </p:txBody>
      </p:sp>
      <p:sp>
        <p:nvSpPr>
          <p:cNvPr id="29" name="Text 14"/>
          <p:cNvSpPr/>
          <p:nvPr/>
        </p:nvSpPr>
        <p:spPr>
          <a:xfrm>
            <a:off x="2514600" y="2660760"/>
            <a:ext cx="1919520" cy="255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E0FBFC"/>
                </a:solidFill>
                <a:effectLst/>
                <a:uFillTx/>
                <a:latin typeface="Arial"/>
                <a:ea typeface="Arial"/>
              </a:rPr>
              <a:t>Timer0 PWM</a:t>
            </a:r>
            <a:endParaRPr lang="en-GB" sz="1000" b="0" u="none" strike="noStrike">
              <a:solidFill>
                <a:srgbClr val="000000"/>
              </a:solidFill>
              <a:effectLst/>
              <a:uFillTx/>
              <a:latin typeface="Arial"/>
            </a:endParaRPr>
          </a:p>
        </p:txBody>
      </p:sp>
      <p:sp>
        <p:nvSpPr>
          <p:cNvPr id="30" name="Shape 15"/>
          <p:cNvSpPr/>
          <p:nvPr/>
        </p:nvSpPr>
        <p:spPr>
          <a:xfrm>
            <a:off x="4434840" y="2743200"/>
            <a:ext cx="228600" cy="360"/>
          </a:xfrm>
          <a:prstGeom prst="line">
            <a:avLst/>
          </a:prstGeom>
          <a:ln w="25400">
            <a:solidFill>
              <a:srgbClr val="0F3460"/>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31" name="Shape 16"/>
          <p:cNvSpPr/>
          <p:nvPr/>
        </p:nvSpPr>
        <p:spPr>
          <a:xfrm>
            <a:off x="4663440" y="2240280"/>
            <a:ext cx="1919520" cy="1005120"/>
          </a:xfrm>
          <a:prstGeom prst="roundRect">
            <a:avLst>
              <a:gd name="adj" fmla="val 10909"/>
            </a:avLst>
          </a:prstGeom>
          <a:solidFill>
            <a:srgbClr val="00B4D8"/>
          </a:solidFill>
          <a:ln w="12700">
            <a:solidFill>
              <a:srgbClr val="00B4D8"/>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2" name="Text 17"/>
          <p:cNvSpPr/>
          <p:nvPr/>
        </p:nvSpPr>
        <p:spPr>
          <a:xfrm>
            <a:off x="4663440" y="2350080"/>
            <a:ext cx="1919520" cy="328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rial"/>
                <a:ea typeface="Arial"/>
              </a:rPr>
              <a:t>MOSFET Driver</a:t>
            </a:r>
            <a:endParaRPr lang="en-GB" sz="1200" b="0" u="none" strike="noStrike">
              <a:solidFill>
                <a:srgbClr val="000000"/>
              </a:solidFill>
              <a:effectLst/>
              <a:uFillTx/>
              <a:latin typeface="Arial"/>
            </a:endParaRPr>
          </a:p>
        </p:txBody>
      </p:sp>
      <p:sp>
        <p:nvSpPr>
          <p:cNvPr id="33" name="Text 18"/>
          <p:cNvSpPr/>
          <p:nvPr/>
        </p:nvSpPr>
        <p:spPr>
          <a:xfrm>
            <a:off x="4663440" y="2660760"/>
            <a:ext cx="1919520" cy="255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E0FBFC"/>
                </a:solidFill>
                <a:effectLst/>
                <a:uFillTx/>
                <a:latin typeface="Arial"/>
                <a:ea typeface="Arial"/>
              </a:rPr>
              <a:t>Gate via 220Ω</a:t>
            </a:r>
            <a:endParaRPr lang="en-GB" sz="1000" b="0" u="none" strike="noStrike">
              <a:solidFill>
                <a:srgbClr val="000000"/>
              </a:solidFill>
              <a:effectLst/>
              <a:uFillTx/>
              <a:latin typeface="Arial"/>
            </a:endParaRPr>
          </a:p>
        </p:txBody>
      </p:sp>
      <p:sp>
        <p:nvSpPr>
          <p:cNvPr id="34" name="Shape 19"/>
          <p:cNvSpPr/>
          <p:nvPr/>
        </p:nvSpPr>
        <p:spPr>
          <a:xfrm>
            <a:off x="6583680" y="2743200"/>
            <a:ext cx="228600" cy="360"/>
          </a:xfrm>
          <a:prstGeom prst="line">
            <a:avLst/>
          </a:prstGeom>
          <a:ln w="25400">
            <a:solidFill>
              <a:srgbClr val="0F3460"/>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35" name="Shape 20"/>
          <p:cNvSpPr/>
          <p:nvPr/>
        </p:nvSpPr>
        <p:spPr>
          <a:xfrm>
            <a:off x="6812280" y="2240280"/>
            <a:ext cx="1919520" cy="1005120"/>
          </a:xfrm>
          <a:prstGeom prst="roundRect">
            <a:avLst>
              <a:gd name="adj" fmla="val 10909"/>
            </a:avLst>
          </a:prstGeom>
          <a:solidFill>
            <a:srgbClr val="48CAE4"/>
          </a:solidFill>
          <a:ln w="12700">
            <a:solidFill>
              <a:srgbClr val="48CAE4"/>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6" name="Text 21"/>
          <p:cNvSpPr/>
          <p:nvPr/>
        </p:nvSpPr>
        <p:spPr>
          <a:xfrm>
            <a:off x="6812280" y="2350080"/>
            <a:ext cx="1919520" cy="328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rial"/>
                <a:ea typeface="Arial"/>
              </a:rPr>
              <a:t>DC Motor</a:t>
            </a:r>
            <a:endParaRPr lang="en-GB" sz="1200" b="0" u="none" strike="noStrike">
              <a:solidFill>
                <a:srgbClr val="000000"/>
              </a:solidFill>
              <a:effectLst/>
              <a:uFillTx/>
              <a:latin typeface="Arial"/>
            </a:endParaRPr>
          </a:p>
        </p:txBody>
      </p:sp>
      <p:sp>
        <p:nvSpPr>
          <p:cNvPr id="37" name="Text 22"/>
          <p:cNvSpPr/>
          <p:nvPr/>
        </p:nvSpPr>
        <p:spPr>
          <a:xfrm>
            <a:off x="6812280" y="2660760"/>
            <a:ext cx="1919520" cy="255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E0FBFC"/>
                </a:solidFill>
                <a:effectLst/>
                <a:uFillTx/>
                <a:latin typeface="Arial"/>
                <a:ea typeface="Arial"/>
              </a:rPr>
              <a:t>Flyback diode</a:t>
            </a:r>
            <a:endParaRPr lang="en-GB" sz="1000" b="0" u="none" strike="noStrike">
              <a:solidFill>
                <a:srgbClr val="000000"/>
              </a:solidFill>
              <a:effectLst/>
              <a:uFillTx/>
              <a:latin typeface="Arial"/>
            </a:endParaRPr>
          </a:p>
        </p:txBody>
      </p:sp>
      <p:sp>
        <p:nvSpPr>
          <p:cNvPr id="38" name="Shape 23"/>
          <p:cNvSpPr/>
          <p:nvPr/>
        </p:nvSpPr>
        <p:spPr>
          <a:xfrm>
            <a:off x="365760" y="3429000"/>
            <a:ext cx="8411760" cy="1370880"/>
          </a:xfrm>
          <a:prstGeom prst="roundRect">
            <a:avLst>
              <a:gd name="adj" fmla="val 8000"/>
            </a:avLst>
          </a:prstGeom>
          <a:solidFill>
            <a:srgbClr val="F0F7FA"/>
          </a:solidFill>
          <a:ln w="6350">
            <a:solidFill>
              <a:srgbClr val="D0E8F0"/>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39" name="Text 24"/>
          <p:cNvSpPr/>
          <p:nvPr/>
        </p:nvSpPr>
        <p:spPr>
          <a:xfrm>
            <a:off x="548640" y="3493080"/>
            <a:ext cx="45712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F3460"/>
                </a:solidFill>
                <a:effectLst/>
                <a:uFillTx/>
                <a:latin typeface="Arial"/>
                <a:ea typeface="Arial"/>
              </a:rPr>
              <a:t>LED Speed Indicators (PB0, PB1, PB2)</a:t>
            </a:r>
            <a:endParaRPr lang="en-GB" sz="1300" b="0" u="none" strike="noStrike">
              <a:solidFill>
                <a:srgbClr val="000000"/>
              </a:solidFill>
              <a:effectLst/>
              <a:uFillTx/>
              <a:latin typeface="Arial"/>
            </a:endParaRPr>
          </a:p>
        </p:txBody>
      </p:sp>
      <p:sp>
        <p:nvSpPr>
          <p:cNvPr id="40" name="Shape 25"/>
          <p:cNvSpPr/>
          <p:nvPr/>
        </p:nvSpPr>
        <p:spPr>
          <a:xfrm>
            <a:off x="1005840" y="3767400"/>
            <a:ext cx="410760" cy="410760"/>
          </a:xfrm>
          <a:prstGeom prst="ellipse">
            <a:avLst/>
          </a:prstGeom>
          <a:solidFill>
            <a:srgbClr val="888888"/>
          </a:solidFill>
          <a:ln w="12700">
            <a:solidFill>
              <a:srgbClr val="888888"/>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41" name="Text 26"/>
          <p:cNvSpPr/>
          <p:nvPr/>
        </p:nvSpPr>
        <p:spPr>
          <a:xfrm>
            <a:off x="502920" y="4224600"/>
            <a:ext cx="164520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1A1A2E"/>
                </a:solidFill>
                <a:effectLst/>
                <a:uFillTx/>
                <a:latin typeface="Arial"/>
                <a:ea typeface="Arial"/>
              </a:rPr>
              <a:t>Level 0</a:t>
            </a:r>
            <a:endParaRPr lang="en-GB"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1A1A2E"/>
                </a:solidFill>
                <a:effectLst/>
                <a:uFillTx/>
                <a:latin typeface="Arial"/>
                <a:ea typeface="Arial"/>
              </a:rPr>
              <a:t>0% — Stopped</a:t>
            </a:r>
            <a:endParaRPr lang="en-GB" sz="900" b="0" u="none" strike="noStrike">
              <a:solidFill>
                <a:srgbClr val="000000"/>
              </a:solidFill>
              <a:effectLst/>
              <a:uFillTx/>
              <a:latin typeface="Arial"/>
            </a:endParaRPr>
          </a:p>
        </p:txBody>
      </p:sp>
      <p:sp>
        <p:nvSpPr>
          <p:cNvPr id="42" name="Shape 27"/>
          <p:cNvSpPr/>
          <p:nvPr/>
        </p:nvSpPr>
        <p:spPr>
          <a:xfrm>
            <a:off x="2670120" y="3767400"/>
            <a:ext cx="410760" cy="410760"/>
          </a:xfrm>
          <a:prstGeom prst="ellipse">
            <a:avLst/>
          </a:prstGeom>
          <a:solidFill>
            <a:srgbClr val="0077B6"/>
          </a:solidFill>
          <a:ln w="12700">
            <a:solidFill>
              <a:srgbClr val="0077B6"/>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43" name="Text 28"/>
          <p:cNvSpPr/>
          <p:nvPr/>
        </p:nvSpPr>
        <p:spPr>
          <a:xfrm>
            <a:off x="2167200" y="4224600"/>
            <a:ext cx="164520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1A1A2E"/>
                </a:solidFill>
                <a:effectLst/>
                <a:uFillTx/>
                <a:latin typeface="Arial"/>
                <a:ea typeface="Arial"/>
              </a:rPr>
              <a:t>Level 1</a:t>
            </a:r>
            <a:endParaRPr lang="en-GB"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1A1A2E"/>
                </a:solidFill>
                <a:effectLst/>
                <a:uFillTx/>
                <a:latin typeface="Arial"/>
                <a:ea typeface="Arial"/>
              </a:rPr>
              <a:t>25% — Low</a:t>
            </a:r>
            <a:endParaRPr lang="en-GB" sz="900" b="0" u="none" strike="noStrike">
              <a:solidFill>
                <a:srgbClr val="000000"/>
              </a:solidFill>
              <a:effectLst/>
              <a:uFillTx/>
              <a:latin typeface="Arial"/>
            </a:endParaRPr>
          </a:p>
        </p:txBody>
      </p:sp>
      <p:sp>
        <p:nvSpPr>
          <p:cNvPr id="44" name="Shape 29"/>
          <p:cNvSpPr/>
          <p:nvPr/>
        </p:nvSpPr>
        <p:spPr>
          <a:xfrm>
            <a:off x="4334400" y="3767400"/>
            <a:ext cx="410760" cy="410760"/>
          </a:xfrm>
          <a:prstGeom prst="ellipse">
            <a:avLst/>
          </a:prstGeom>
          <a:solidFill>
            <a:srgbClr val="0096C7"/>
          </a:solidFill>
          <a:ln w="12700">
            <a:solidFill>
              <a:srgbClr val="0096C7"/>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45" name="Text 30"/>
          <p:cNvSpPr/>
          <p:nvPr/>
        </p:nvSpPr>
        <p:spPr>
          <a:xfrm>
            <a:off x="3831480" y="4224600"/>
            <a:ext cx="164520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1A1A2E"/>
                </a:solidFill>
                <a:effectLst/>
                <a:uFillTx/>
                <a:latin typeface="Arial"/>
                <a:ea typeface="Arial"/>
              </a:rPr>
              <a:t>Level 2</a:t>
            </a:r>
            <a:endParaRPr lang="en-GB"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1A1A2E"/>
                </a:solidFill>
                <a:effectLst/>
                <a:uFillTx/>
                <a:latin typeface="Arial"/>
                <a:ea typeface="Arial"/>
              </a:rPr>
              <a:t>50% — Medium</a:t>
            </a:r>
            <a:endParaRPr lang="en-GB" sz="900" b="0" u="none" strike="noStrike">
              <a:solidFill>
                <a:srgbClr val="000000"/>
              </a:solidFill>
              <a:effectLst/>
              <a:uFillTx/>
              <a:latin typeface="Arial"/>
            </a:endParaRPr>
          </a:p>
        </p:txBody>
      </p:sp>
      <p:sp>
        <p:nvSpPr>
          <p:cNvPr id="46" name="Shape 31"/>
          <p:cNvSpPr/>
          <p:nvPr/>
        </p:nvSpPr>
        <p:spPr>
          <a:xfrm>
            <a:off x="5998320" y="3767400"/>
            <a:ext cx="410760" cy="410760"/>
          </a:xfrm>
          <a:prstGeom prst="ellipse">
            <a:avLst/>
          </a:prstGeom>
          <a:solidFill>
            <a:srgbClr val="00B4D8"/>
          </a:solidFill>
          <a:ln w="12700">
            <a:solidFill>
              <a:srgbClr val="00B4D8"/>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7" name="Text 32"/>
          <p:cNvSpPr/>
          <p:nvPr/>
        </p:nvSpPr>
        <p:spPr>
          <a:xfrm>
            <a:off x="5495400" y="4224600"/>
            <a:ext cx="164520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1A1A2E"/>
                </a:solidFill>
                <a:effectLst/>
                <a:uFillTx/>
                <a:latin typeface="Arial"/>
                <a:ea typeface="Arial"/>
              </a:rPr>
              <a:t>Level 3</a:t>
            </a:r>
            <a:endParaRPr lang="en-GB"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1A1A2E"/>
                </a:solidFill>
                <a:effectLst/>
                <a:uFillTx/>
                <a:latin typeface="Arial"/>
                <a:ea typeface="Arial"/>
              </a:rPr>
              <a:t>75% — High</a:t>
            </a:r>
            <a:endParaRPr lang="en-GB" sz="900" b="0" u="none" strike="noStrike">
              <a:solidFill>
                <a:srgbClr val="000000"/>
              </a:solidFill>
              <a:effectLst/>
              <a:uFillTx/>
              <a:latin typeface="Arial"/>
            </a:endParaRPr>
          </a:p>
        </p:txBody>
      </p:sp>
      <p:sp>
        <p:nvSpPr>
          <p:cNvPr id="48" name="Shape 33"/>
          <p:cNvSpPr/>
          <p:nvPr/>
        </p:nvSpPr>
        <p:spPr>
          <a:xfrm>
            <a:off x="7662600" y="3767400"/>
            <a:ext cx="410760" cy="410760"/>
          </a:xfrm>
          <a:prstGeom prst="ellipse">
            <a:avLst/>
          </a:prstGeom>
          <a:solidFill>
            <a:srgbClr val="48CAE4"/>
          </a:solidFill>
          <a:ln w="12700">
            <a:solidFill>
              <a:srgbClr val="48CAE4"/>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9" name="Text 34"/>
          <p:cNvSpPr/>
          <p:nvPr/>
        </p:nvSpPr>
        <p:spPr>
          <a:xfrm>
            <a:off x="7159680" y="4224600"/>
            <a:ext cx="164520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1A1A2E"/>
                </a:solidFill>
                <a:effectLst/>
                <a:uFillTx/>
                <a:latin typeface="Arial"/>
                <a:ea typeface="Arial"/>
              </a:rPr>
              <a:t>Level 4</a:t>
            </a:r>
            <a:endParaRPr lang="en-GB"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1A1A2E"/>
                </a:solidFill>
                <a:effectLst/>
                <a:uFillTx/>
                <a:latin typeface="Arial"/>
                <a:ea typeface="Arial"/>
              </a:rPr>
              <a:t>100% — Full</a:t>
            </a:r>
            <a:endParaRPr lang="en-GB"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8FB"/>
        </a:solidFill>
      </p:bgPr>
    </p:bg>
    <p:spTree>
      <p:nvGrpSpPr>
        <p:cNvPr id="1" name=""/>
        <p:cNvGrpSpPr/>
        <p:nvPr/>
      </p:nvGrpSpPr>
      <p:grpSpPr>
        <a:xfrm>
          <a:off x="0" y="0"/>
          <a:ext cx="0" cy="0"/>
          <a:chOff x="0" y="0"/>
          <a:chExt cx="0" cy="0"/>
        </a:xfrm>
      </p:grpSpPr>
      <p:sp>
        <p:nvSpPr>
          <p:cNvPr id="50" name="Text 0"/>
          <p:cNvSpPr/>
          <p:nvPr/>
        </p:nvSpPr>
        <p:spPr>
          <a:xfrm>
            <a:off x="180000" y="-54000"/>
            <a:ext cx="822888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A1A2E"/>
                </a:solidFill>
                <a:effectLst/>
                <a:uFillTx/>
                <a:latin typeface="Arial"/>
                <a:ea typeface="Arial"/>
              </a:rPr>
              <a:t>System Block Diagram</a:t>
            </a:r>
            <a:endParaRPr lang="en-GB" sz="3000" b="0" u="none" strike="noStrike">
              <a:solidFill>
                <a:srgbClr val="000000"/>
              </a:solidFill>
              <a:effectLst/>
              <a:uFillTx/>
              <a:latin typeface="Arial"/>
            </a:endParaRPr>
          </a:p>
        </p:txBody>
      </p:sp>
      <p:sp>
        <p:nvSpPr>
          <p:cNvPr id="51" name="Shape 1"/>
          <p:cNvSpPr/>
          <p:nvPr/>
        </p:nvSpPr>
        <p:spPr>
          <a:xfrm>
            <a:off x="180000" y="539640"/>
            <a:ext cx="8229600" cy="360"/>
          </a:xfrm>
          <a:prstGeom prst="line">
            <a:avLst/>
          </a:prstGeom>
          <a:ln w="12700">
            <a:solidFill>
              <a:srgbClr val="C5DCE8"/>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pic>
        <p:nvPicPr>
          <p:cNvPr id="52" name=""/>
          <p:cNvPicPr/>
          <p:nvPr/>
        </p:nvPicPr>
        <p:blipFill>
          <a:blip r:embed="rId1"/>
          <a:stretch/>
        </p:blipFill>
        <p:spPr>
          <a:xfrm>
            <a:off x="0" y="540000"/>
            <a:ext cx="9143640" cy="46033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8FB"/>
        </a:solidFill>
      </p:bgPr>
    </p:bg>
    <p:spTree>
      <p:nvGrpSpPr>
        <p:cNvPr id="1" name=""/>
        <p:cNvGrpSpPr/>
        <p:nvPr/>
      </p:nvGrpSpPr>
      <p:grpSpPr>
        <a:xfrm>
          <a:off x="0" y="0"/>
          <a:ext cx="0" cy="0"/>
          <a:chOff x="0" y="0"/>
          <a:chExt cx="0" cy="0"/>
        </a:xfrm>
      </p:grpSpPr>
      <p:sp>
        <p:nvSpPr>
          <p:cNvPr id="53" name="Text 0"/>
          <p:cNvSpPr/>
          <p:nvPr/>
        </p:nvSpPr>
        <p:spPr>
          <a:xfrm>
            <a:off x="230760" y="-54000"/>
            <a:ext cx="822888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A1A2E"/>
                </a:solidFill>
                <a:effectLst/>
                <a:uFillTx/>
                <a:latin typeface="Arial"/>
                <a:ea typeface="Arial"/>
              </a:rPr>
              <a:t>KiCad Schematic Design</a:t>
            </a:r>
            <a:endParaRPr lang="en-GB" sz="3000" b="0" u="none" strike="noStrike">
              <a:solidFill>
                <a:srgbClr val="000000"/>
              </a:solidFill>
              <a:effectLst/>
              <a:uFillTx/>
              <a:latin typeface="Arial"/>
            </a:endParaRPr>
          </a:p>
        </p:txBody>
      </p:sp>
      <p:sp>
        <p:nvSpPr>
          <p:cNvPr id="54" name="Shape 1"/>
          <p:cNvSpPr/>
          <p:nvPr/>
        </p:nvSpPr>
        <p:spPr>
          <a:xfrm>
            <a:off x="230760" y="539640"/>
            <a:ext cx="8229600" cy="360"/>
          </a:xfrm>
          <a:prstGeom prst="line">
            <a:avLst/>
          </a:prstGeom>
          <a:ln w="12700">
            <a:solidFill>
              <a:srgbClr val="C5DCE8"/>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pic>
        <p:nvPicPr>
          <p:cNvPr id="55" name=""/>
          <p:cNvPicPr/>
          <p:nvPr/>
        </p:nvPicPr>
        <p:blipFill>
          <a:blip r:embed="rId1"/>
          <a:stretch/>
        </p:blipFill>
        <p:spPr>
          <a:xfrm>
            <a:off x="2520" y="0"/>
            <a:ext cx="917712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8FB"/>
        </a:solidFill>
      </p:bgPr>
    </p:bg>
    <p:spTree>
      <p:nvGrpSpPr>
        <p:cNvPr id="1" name=""/>
        <p:cNvGrpSpPr/>
        <p:nvPr/>
      </p:nvGrpSpPr>
      <p:grpSpPr>
        <a:xfrm>
          <a:off x="0" y="0"/>
          <a:ext cx="0" cy="0"/>
          <a:chOff x="0" y="0"/>
          <a:chExt cx="0" cy="0"/>
        </a:xfrm>
      </p:grpSpPr>
      <p:sp>
        <p:nvSpPr>
          <p:cNvPr id="56" name="Text 0"/>
          <p:cNvSpPr/>
          <p:nvPr/>
        </p:nvSpPr>
        <p:spPr>
          <a:xfrm>
            <a:off x="230760" y="-54000"/>
            <a:ext cx="822888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A1A2E"/>
                </a:solidFill>
                <a:effectLst/>
                <a:uFillTx/>
                <a:latin typeface="Arial"/>
                <a:ea typeface="Arial"/>
              </a:rPr>
              <a:t>PCB Layout (KiCad)</a:t>
            </a:r>
            <a:endParaRPr lang="en-GB" sz="3000" b="0" u="none" strike="noStrike">
              <a:solidFill>
                <a:srgbClr val="000000"/>
              </a:solidFill>
              <a:effectLst/>
              <a:uFillTx/>
              <a:latin typeface="Arial"/>
            </a:endParaRPr>
          </a:p>
        </p:txBody>
      </p:sp>
      <p:sp>
        <p:nvSpPr>
          <p:cNvPr id="57" name="Shape 1"/>
          <p:cNvSpPr/>
          <p:nvPr/>
        </p:nvSpPr>
        <p:spPr>
          <a:xfrm>
            <a:off x="230400" y="539640"/>
            <a:ext cx="8229600" cy="360"/>
          </a:xfrm>
          <a:prstGeom prst="line">
            <a:avLst/>
          </a:prstGeom>
          <a:ln w="12700">
            <a:solidFill>
              <a:srgbClr val="C5DCE8"/>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pic>
        <p:nvPicPr>
          <p:cNvPr id="58" name=""/>
          <p:cNvPicPr/>
          <p:nvPr/>
        </p:nvPicPr>
        <p:blipFill>
          <a:blip r:embed="rId1"/>
          <a:stretch/>
        </p:blipFill>
        <p:spPr>
          <a:xfrm>
            <a:off x="3960000" y="540000"/>
            <a:ext cx="5183640" cy="4603320"/>
          </a:xfrm>
          <a:prstGeom prst="rect">
            <a:avLst/>
          </a:prstGeom>
          <a:noFill/>
          <a:ln w="0">
            <a:noFill/>
          </a:ln>
        </p:spPr>
      </p:pic>
      <p:pic>
        <p:nvPicPr>
          <p:cNvPr id="59" name=""/>
          <p:cNvPicPr/>
          <p:nvPr/>
        </p:nvPicPr>
        <p:blipFill>
          <a:blip r:embed="rId2"/>
          <a:stretch/>
        </p:blipFill>
        <p:spPr>
          <a:xfrm>
            <a:off x="0" y="539640"/>
            <a:ext cx="3959640" cy="460368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0" name="Text 0"/>
          <p:cNvSpPr/>
          <p:nvPr/>
        </p:nvSpPr>
        <p:spPr>
          <a:xfrm>
            <a:off x="457200" y="255960"/>
            <a:ext cx="822888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00B4D8"/>
                </a:solidFill>
                <a:effectLst/>
                <a:uFillTx/>
                <a:latin typeface="Arial"/>
                <a:ea typeface="Arial"/>
              </a:rPr>
              <a:t>PWM Theory &amp; Configuration</a:t>
            </a:r>
            <a:endParaRPr lang="en-GB" sz="3000" b="0" u="none" strike="noStrike">
              <a:solidFill>
                <a:srgbClr val="FFFFFF"/>
              </a:solidFill>
              <a:effectLst/>
              <a:uFillTx/>
              <a:latin typeface="Arial"/>
            </a:endParaRPr>
          </a:p>
        </p:txBody>
      </p:sp>
      <p:sp>
        <p:nvSpPr>
          <p:cNvPr id="61" name="Shape 1"/>
          <p:cNvSpPr/>
          <p:nvPr/>
        </p:nvSpPr>
        <p:spPr>
          <a:xfrm>
            <a:off x="457200" y="960120"/>
            <a:ext cx="8229600" cy="360"/>
          </a:xfrm>
          <a:prstGeom prst="line">
            <a:avLst/>
          </a:prstGeom>
          <a:ln w="12700">
            <a:solidFill>
              <a:srgbClr val="0F3460"/>
            </a:solidFill>
            <a:round/>
          </a:ln>
        </p:spPr>
        <p:style>
          <a:lnRef idx="0"/>
          <a:fillRef idx="0"/>
          <a:effectRef idx="0"/>
          <a:fontRef idx="minor"/>
        </p:style>
        <p:txBody>
          <a:bodyPr lIns="90000" tIns="-44640" rIns="90000" bIns="-44640" anchor="t" anchorCtr="1">
            <a:noAutofit/>
          </a:bodyPr>
          <a:p>
            <a:endParaRPr lang="en-GB" sz="1800" b="0" u="none" strike="noStrike">
              <a:solidFill>
                <a:srgbClr val="FFFFFF"/>
              </a:solidFill>
              <a:effectLst/>
              <a:uFillTx/>
              <a:latin typeface="Arial"/>
            </a:endParaRPr>
          </a:p>
        </p:txBody>
      </p:sp>
      <p:sp>
        <p:nvSpPr>
          <p:cNvPr id="62" name="Shape 2"/>
          <p:cNvSpPr/>
          <p:nvPr/>
        </p:nvSpPr>
        <p:spPr>
          <a:xfrm>
            <a:off x="365760" y="1097280"/>
            <a:ext cx="4022640" cy="3565440"/>
          </a:xfrm>
          <a:prstGeom prst="roundRect">
            <a:avLst>
              <a:gd name="adj" fmla="val 3077"/>
            </a:avLst>
          </a:prstGeom>
          <a:solidFill>
            <a:srgbClr val="16213E"/>
          </a:solidFill>
          <a:ln w="6350">
            <a:solidFill>
              <a:srgbClr val="D0E8F0"/>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63" name="Text 3"/>
          <p:cNvSpPr/>
          <p:nvPr/>
        </p:nvSpPr>
        <p:spPr>
          <a:xfrm>
            <a:off x="548640" y="1170360"/>
            <a:ext cx="3656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B4D8"/>
                </a:solidFill>
                <a:effectLst/>
                <a:uFillTx/>
                <a:latin typeface="Arial"/>
                <a:ea typeface="Arial"/>
              </a:rPr>
              <a:t>Duty Cycle Formula</a:t>
            </a:r>
            <a:endParaRPr lang="en-GB" sz="1300" b="0" u="none" strike="noStrike">
              <a:solidFill>
                <a:srgbClr val="FFFFFF"/>
              </a:solidFill>
              <a:effectLst/>
              <a:uFillTx/>
              <a:latin typeface="Arial"/>
            </a:endParaRPr>
          </a:p>
        </p:txBody>
      </p:sp>
      <p:sp>
        <p:nvSpPr>
          <p:cNvPr id="64" name="Text 4"/>
          <p:cNvSpPr/>
          <p:nvPr/>
        </p:nvSpPr>
        <p:spPr>
          <a:xfrm>
            <a:off x="502920" y="1536120"/>
            <a:ext cx="3748320" cy="502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00B4D8"/>
                </a:solidFill>
                <a:effectLst/>
                <a:uFillTx/>
                <a:latin typeface="Courier New"/>
                <a:ea typeface="Courier New"/>
              </a:rPr>
              <a:t>D = (OCR0 / 255) × 100%</a:t>
            </a:r>
            <a:endParaRPr lang="en-GB" sz="1700" b="0" u="none" strike="noStrike">
              <a:solidFill>
                <a:srgbClr val="FFFFFF"/>
              </a:solidFill>
              <a:effectLst/>
              <a:uFillTx/>
              <a:latin typeface="Arial"/>
            </a:endParaRPr>
          </a:p>
        </p:txBody>
      </p:sp>
      <p:sp>
        <p:nvSpPr>
          <p:cNvPr id="65" name="Text 5"/>
          <p:cNvSpPr/>
          <p:nvPr/>
        </p:nvSpPr>
        <p:spPr>
          <a:xfrm>
            <a:off x="548640" y="2148840"/>
            <a:ext cx="3656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B4D8"/>
                </a:solidFill>
                <a:effectLst/>
                <a:uFillTx/>
                <a:latin typeface="Arial"/>
                <a:ea typeface="Arial"/>
              </a:rPr>
              <a:t>Speed Levels</a:t>
            </a:r>
            <a:endParaRPr lang="en-GB" sz="1300" b="0" u="none" strike="noStrike">
              <a:solidFill>
                <a:srgbClr val="FFFFFF"/>
              </a:solidFill>
              <a:effectLst/>
              <a:uFillTx/>
              <a:latin typeface="Arial"/>
            </a:endParaRPr>
          </a:p>
        </p:txBody>
      </p:sp>
      <p:graphicFrame>
        <p:nvGraphicFramePr>
          <p:cNvPr id="66" name="Table 0"/>
          <p:cNvGraphicFramePr/>
          <p:nvPr/>
        </p:nvGraphicFramePr>
        <p:xfrm>
          <a:off x="457200" y="2468880"/>
          <a:ext cx="3748680" cy="1920240"/>
        </p:xfrm>
        <a:graphic>
          <a:graphicData uri="http://schemas.openxmlformats.org/drawingml/2006/table">
            <a:tbl>
              <a:tblPr/>
              <a:tblGrid>
                <a:gridCol w="640080"/>
                <a:gridCol w="731520"/>
                <a:gridCol w="1005840"/>
                <a:gridCol w="1371600"/>
              </a:tblGrid>
              <a:tr h="320040">
                <a:tc>
                  <a:txBody>
                    <a:bodyPr anchor="t">
                      <a:noAutofit/>
                    </a:bodyPr>
                    <a:p>
                      <a:pPr defTabSz="914400">
                        <a:lnSpc>
                          <a:spcPct val="100000"/>
                        </a:lnSpc>
                        <a:tabLst>
                          <a:tab pos="0" algn="l"/>
                        </a:tabLst>
                      </a:pPr>
                      <a:r>
                        <a:rPr lang="en-US" sz="1100" b="1" u="none" strike="noStrike">
                          <a:solidFill>
                            <a:srgbClr val="00B4D8"/>
                          </a:solidFill>
                          <a:effectLst/>
                          <a:uFillTx/>
                          <a:latin typeface="Arial"/>
                          <a:ea typeface="Arial"/>
                        </a:rPr>
                        <a:t>Level</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c>
                  <a:txBody>
                    <a:bodyPr anchor="t">
                      <a:noAutofit/>
                    </a:bodyPr>
                    <a:p>
                      <a:pPr defTabSz="914400">
                        <a:lnSpc>
                          <a:spcPct val="100000"/>
                        </a:lnSpc>
                        <a:tabLst>
                          <a:tab pos="0" algn="l"/>
                        </a:tabLst>
                      </a:pPr>
                      <a:r>
                        <a:rPr lang="en-US" sz="1100" b="1" u="none" strike="noStrike">
                          <a:solidFill>
                            <a:srgbClr val="00B4D8"/>
                          </a:solidFill>
                          <a:effectLst/>
                          <a:uFillTx/>
                          <a:latin typeface="Arial"/>
                          <a:ea typeface="Arial"/>
                        </a:rPr>
                        <a:t>OCR0</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c>
                  <a:txBody>
                    <a:bodyPr anchor="t">
                      <a:noAutofit/>
                    </a:bodyPr>
                    <a:p>
                      <a:pPr defTabSz="914400">
                        <a:lnSpc>
                          <a:spcPct val="100000"/>
                        </a:lnSpc>
                        <a:tabLst>
                          <a:tab pos="0" algn="l"/>
                        </a:tabLst>
                      </a:pPr>
                      <a:r>
                        <a:rPr lang="en-US" sz="1100" b="1" u="none" strike="noStrike">
                          <a:solidFill>
                            <a:srgbClr val="00B4D8"/>
                          </a:solidFill>
                          <a:effectLst/>
                          <a:uFillTx/>
                          <a:latin typeface="Arial"/>
                          <a:ea typeface="Arial"/>
                        </a:rPr>
                        <a:t>Duty Cycle</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c>
                  <a:txBody>
                    <a:bodyPr anchor="t">
                      <a:noAutofit/>
                    </a:bodyPr>
                    <a:p>
                      <a:pPr defTabSz="914400">
                        <a:lnSpc>
                          <a:spcPct val="100000"/>
                        </a:lnSpc>
                        <a:tabLst>
                          <a:tab pos="0" algn="l"/>
                        </a:tabLst>
                      </a:pPr>
                      <a:r>
                        <a:rPr lang="en-US" sz="1100" b="1" u="none" strike="noStrike">
                          <a:solidFill>
                            <a:srgbClr val="00B4D8"/>
                          </a:solidFill>
                          <a:effectLst/>
                          <a:uFillTx/>
                          <a:latin typeface="Arial"/>
                          <a:ea typeface="Arial"/>
                        </a:rPr>
                        <a:t>Motor</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r>
              <a:tr h="320040">
                <a:tc>
                  <a:txBody>
                    <a:bodyPr anchor="t">
                      <a:noAutofit/>
                    </a:bodyPr>
                    <a:p>
                      <a:pPr defTabSz="914400">
                        <a:lnSpc>
                          <a:spcPct val="100000"/>
                        </a:lnSpc>
                        <a:tabLst>
                          <a:tab pos="0" algn="l"/>
                        </a:tabLst>
                      </a:pPr>
                      <a:r>
                        <a:rPr lang="en-US" sz="1100" b="0" u="none" strike="noStrike">
                          <a:solidFill>
                            <a:srgbClr val="FFFFFF"/>
                          </a:solidFill>
                          <a:effectLst/>
                          <a:uFillTx/>
                          <a:latin typeface="Arial"/>
                          <a:ea typeface="Arial"/>
                        </a:rPr>
                        <a:t>0</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c>
                  <a:txBody>
                    <a:bodyPr anchor="t">
                      <a:noAutofit/>
                    </a:bodyPr>
                    <a:p>
                      <a:pPr defTabSz="914400">
                        <a:lnSpc>
                          <a:spcPct val="100000"/>
                        </a:lnSpc>
                        <a:tabLst>
                          <a:tab pos="0" algn="l"/>
                        </a:tabLst>
                      </a:pPr>
                      <a:r>
                        <a:rPr lang="en-US" sz="1100" b="0" u="none" strike="noStrike">
                          <a:solidFill>
                            <a:srgbClr val="FFFFFF"/>
                          </a:solidFill>
                          <a:effectLst/>
                          <a:uFillTx/>
                          <a:latin typeface="Arial"/>
                          <a:ea typeface="Arial"/>
                        </a:rPr>
                        <a:t>0</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c>
                  <a:txBody>
                    <a:bodyPr anchor="t">
                      <a:noAutofit/>
                    </a:bodyPr>
                    <a:p>
                      <a:pPr defTabSz="914400">
                        <a:lnSpc>
                          <a:spcPct val="100000"/>
                        </a:lnSpc>
                        <a:tabLst>
                          <a:tab pos="0" algn="l"/>
                        </a:tabLst>
                      </a:pPr>
                      <a:r>
                        <a:rPr lang="en-US" sz="1100" b="0" u="none" strike="noStrike">
                          <a:solidFill>
                            <a:srgbClr val="FFFFFF"/>
                          </a:solidFill>
                          <a:effectLst/>
                          <a:uFillTx/>
                          <a:latin typeface="Arial"/>
                          <a:ea typeface="Arial"/>
                        </a:rPr>
                        <a:t>0%</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c>
                  <a:txBody>
                    <a:bodyPr anchor="t">
                      <a:noAutofit/>
                    </a:bodyPr>
                    <a:p>
                      <a:pPr defTabSz="914400">
                        <a:lnSpc>
                          <a:spcPct val="100000"/>
                        </a:lnSpc>
                        <a:tabLst>
                          <a:tab pos="0" algn="l"/>
                        </a:tabLst>
                      </a:pPr>
                      <a:r>
                        <a:rPr lang="en-US" sz="1100" b="0" u="none" strike="noStrike">
                          <a:solidFill>
                            <a:srgbClr val="FFFFFF"/>
                          </a:solidFill>
                          <a:effectLst/>
                          <a:uFillTx/>
                          <a:latin typeface="Arial"/>
                          <a:ea typeface="Arial"/>
                        </a:rPr>
                        <a:t>Stopped</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r>
              <a:tr h="320040">
                <a:tc>
                  <a:txBody>
                    <a:bodyPr anchor="t">
                      <a:noAutofit/>
                    </a:bodyPr>
                    <a:p>
                      <a:pPr defTabSz="914400">
                        <a:lnSpc>
                          <a:spcPct val="100000"/>
                        </a:lnSpc>
                        <a:tabLst>
                          <a:tab pos="0" algn="l"/>
                        </a:tabLst>
                      </a:pPr>
                      <a:r>
                        <a:rPr lang="en-US" sz="1100" b="0" u="none" strike="noStrike">
                          <a:solidFill>
                            <a:srgbClr val="FFFFFF"/>
                          </a:solidFill>
                          <a:effectLst/>
                          <a:uFillTx/>
                          <a:latin typeface="Arial"/>
                          <a:ea typeface="Arial"/>
                        </a:rPr>
                        <a:t>1</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c>
                  <a:txBody>
                    <a:bodyPr anchor="t">
                      <a:noAutofit/>
                    </a:bodyPr>
                    <a:p>
                      <a:pPr defTabSz="914400">
                        <a:lnSpc>
                          <a:spcPct val="100000"/>
                        </a:lnSpc>
                        <a:tabLst>
                          <a:tab pos="0" algn="l"/>
                        </a:tabLst>
                      </a:pPr>
                      <a:r>
                        <a:rPr lang="en-US" sz="1100" b="0" u="none" strike="noStrike">
                          <a:solidFill>
                            <a:srgbClr val="FFFFFF"/>
                          </a:solidFill>
                          <a:effectLst/>
                          <a:uFillTx/>
                          <a:latin typeface="Arial"/>
                          <a:ea typeface="Arial"/>
                        </a:rPr>
                        <a:t>64</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c>
                  <a:txBody>
                    <a:bodyPr anchor="t">
                      <a:noAutofit/>
                    </a:bodyPr>
                    <a:p>
                      <a:pPr defTabSz="914400">
                        <a:lnSpc>
                          <a:spcPct val="100000"/>
                        </a:lnSpc>
                        <a:tabLst>
                          <a:tab pos="0" algn="l"/>
                        </a:tabLst>
                      </a:pPr>
                      <a:r>
                        <a:rPr lang="en-US" sz="1100" b="0" u="none" strike="noStrike">
                          <a:solidFill>
                            <a:srgbClr val="FFFFFF"/>
                          </a:solidFill>
                          <a:effectLst/>
                          <a:uFillTx/>
                          <a:latin typeface="Arial"/>
                          <a:ea typeface="Arial"/>
                        </a:rPr>
                        <a:t>25%</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c>
                  <a:txBody>
                    <a:bodyPr anchor="t">
                      <a:noAutofit/>
                    </a:bodyPr>
                    <a:p>
                      <a:pPr defTabSz="914400">
                        <a:lnSpc>
                          <a:spcPct val="100000"/>
                        </a:lnSpc>
                        <a:tabLst>
                          <a:tab pos="0" algn="l"/>
                        </a:tabLst>
                      </a:pPr>
                      <a:r>
                        <a:rPr lang="en-US" sz="1100" b="0" u="none" strike="noStrike">
                          <a:solidFill>
                            <a:srgbClr val="FFFFFF"/>
                          </a:solidFill>
                          <a:effectLst/>
                          <a:uFillTx/>
                          <a:latin typeface="Arial"/>
                          <a:ea typeface="Arial"/>
                        </a:rPr>
                        <a:t>Low</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r>
              <a:tr h="320040">
                <a:tc>
                  <a:txBody>
                    <a:bodyPr anchor="t">
                      <a:noAutofit/>
                    </a:bodyPr>
                    <a:p>
                      <a:pPr defTabSz="914400">
                        <a:lnSpc>
                          <a:spcPct val="100000"/>
                        </a:lnSpc>
                        <a:tabLst>
                          <a:tab pos="0" algn="l"/>
                        </a:tabLst>
                      </a:pPr>
                      <a:r>
                        <a:rPr lang="en-US" sz="1100" b="0" u="none" strike="noStrike">
                          <a:solidFill>
                            <a:srgbClr val="FFFFFF"/>
                          </a:solidFill>
                          <a:effectLst/>
                          <a:uFillTx/>
                          <a:latin typeface="Arial"/>
                          <a:ea typeface="Arial"/>
                        </a:rPr>
                        <a:t>2</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c>
                  <a:txBody>
                    <a:bodyPr anchor="t">
                      <a:noAutofit/>
                    </a:bodyPr>
                    <a:p>
                      <a:pPr defTabSz="914400">
                        <a:lnSpc>
                          <a:spcPct val="100000"/>
                        </a:lnSpc>
                        <a:tabLst>
                          <a:tab pos="0" algn="l"/>
                        </a:tabLst>
                      </a:pPr>
                      <a:r>
                        <a:rPr lang="en-US" sz="1100" b="0" u="none" strike="noStrike">
                          <a:solidFill>
                            <a:srgbClr val="FFFFFF"/>
                          </a:solidFill>
                          <a:effectLst/>
                          <a:uFillTx/>
                          <a:latin typeface="Arial"/>
                          <a:ea typeface="Arial"/>
                        </a:rPr>
                        <a:t>128</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c>
                  <a:txBody>
                    <a:bodyPr anchor="t">
                      <a:noAutofit/>
                    </a:bodyPr>
                    <a:p>
                      <a:pPr defTabSz="914400">
                        <a:lnSpc>
                          <a:spcPct val="100000"/>
                        </a:lnSpc>
                        <a:tabLst>
                          <a:tab pos="0" algn="l"/>
                        </a:tabLst>
                      </a:pPr>
                      <a:r>
                        <a:rPr lang="en-US" sz="1100" b="0" u="none" strike="noStrike">
                          <a:solidFill>
                            <a:srgbClr val="FFFFFF"/>
                          </a:solidFill>
                          <a:effectLst/>
                          <a:uFillTx/>
                          <a:latin typeface="Arial"/>
                          <a:ea typeface="Arial"/>
                        </a:rPr>
                        <a:t>50%</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c>
                  <a:txBody>
                    <a:bodyPr anchor="t">
                      <a:noAutofit/>
                    </a:bodyPr>
                    <a:p>
                      <a:pPr defTabSz="914400">
                        <a:lnSpc>
                          <a:spcPct val="100000"/>
                        </a:lnSpc>
                        <a:tabLst>
                          <a:tab pos="0" algn="l"/>
                        </a:tabLst>
                      </a:pPr>
                      <a:r>
                        <a:rPr lang="en-US" sz="1100" b="0" u="none" strike="noStrike">
                          <a:solidFill>
                            <a:srgbClr val="FFFFFF"/>
                          </a:solidFill>
                          <a:effectLst/>
                          <a:uFillTx/>
                          <a:latin typeface="Arial"/>
                          <a:ea typeface="Arial"/>
                        </a:rPr>
                        <a:t>Medium</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r>
              <a:tr h="320040">
                <a:tc>
                  <a:txBody>
                    <a:bodyPr anchor="t">
                      <a:noAutofit/>
                    </a:bodyPr>
                    <a:p>
                      <a:pPr defTabSz="914400">
                        <a:lnSpc>
                          <a:spcPct val="100000"/>
                        </a:lnSpc>
                        <a:tabLst>
                          <a:tab pos="0" algn="l"/>
                        </a:tabLst>
                      </a:pPr>
                      <a:r>
                        <a:rPr lang="en-US" sz="1100" b="0" u="none" strike="noStrike">
                          <a:solidFill>
                            <a:srgbClr val="FFFFFF"/>
                          </a:solidFill>
                          <a:effectLst/>
                          <a:uFillTx/>
                          <a:latin typeface="Arial"/>
                          <a:ea typeface="Arial"/>
                        </a:rPr>
                        <a:t>3</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c>
                  <a:txBody>
                    <a:bodyPr anchor="t">
                      <a:noAutofit/>
                    </a:bodyPr>
                    <a:p>
                      <a:pPr defTabSz="914400">
                        <a:lnSpc>
                          <a:spcPct val="100000"/>
                        </a:lnSpc>
                        <a:tabLst>
                          <a:tab pos="0" algn="l"/>
                        </a:tabLst>
                      </a:pPr>
                      <a:r>
                        <a:rPr lang="en-US" sz="1100" b="0" u="none" strike="noStrike">
                          <a:solidFill>
                            <a:srgbClr val="FFFFFF"/>
                          </a:solidFill>
                          <a:effectLst/>
                          <a:uFillTx/>
                          <a:latin typeface="Arial"/>
                          <a:ea typeface="Arial"/>
                        </a:rPr>
                        <a:t>191</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c>
                  <a:txBody>
                    <a:bodyPr anchor="t">
                      <a:noAutofit/>
                    </a:bodyPr>
                    <a:p>
                      <a:pPr defTabSz="914400">
                        <a:lnSpc>
                          <a:spcPct val="100000"/>
                        </a:lnSpc>
                        <a:tabLst>
                          <a:tab pos="0" algn="l"/>
                        </a:tabLst>
                      </a:pPr>
                      <a:r>
                        <a:rPr lang="en-US" sz="1100" b="0" u="none" strike="noStrike">
                          <a:solidFill>
                            <a:srgbClr val="FFFFFF"/>
                          </a:solidFill>
                          <a:effectLst/>
                          <a:uFillTx/>
                          <a:latin typeface="Arial"/>
                          <a:ea typeface="Arial"/>
                        </a:rPr>
                        <a:t>75%</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c>
                  <a:txBody>
                    <a:bodyPr anchor="t">
                      <a:noAutofit/>
                    </a:bodyPr>
                    <a:p>
                      <a:pPr defTabSz="914400">
                        <a:lnSpc>
                          <a:spcPct val="100000"/>
                        </a:lnSpc>
                        <a:tabLst>
                          <a:tab pos="0" algn="l"/>
                        </a:tabLst>
                      </a:pPr>
                      <a:r>
                        <a:rPr lang="en-US" sz="1100" b="0" u="none" strike="noStrike">
                          <a:solidFill>
                            <a:srgbClr val="FFFFFF"/>
                          </a:solidFill>
                          <a:effectLst/>
                          <a:uFillTx/>
                          <a:latin typeface="Arial"/>
                          <a:ea typeface="Arial"/>
                        </a:rPr>
                        <a:t>High</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r>
              <a:tr h="320040">
                <a:tc>
                  <a:txBody>
                    <a:bodyPr anchor="t">
                      <a:noAutofit/>
                    </a:bodyPr>
                    <a:p>
                      <a:pPr defTabSz="914400">
                        <a:lnSpc>
                          <a:spcPct val="100000"/>
                        </a:lnSpc>
                        <a:tabLst>
                          <a:tab pos="0" algn="l"/>
                        </a:tabLst>
                      </a:pPr>
                      <a:r>
                        <a:rPr lang="en-US" sz="1100" b="0" u="none" strike="noStrike">
                          <a:solidFill>
                            <a:srgbClr val="FFFFFF"/>
                          </a:solidFill>
                          <a:effectLst/>
                          <a:uFillTx/>
                          <a:latin typeface="Arial"/>
                          <a:ea typeface="Arial"/>
                        </a:rPr>
                        <a:t>4</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c>
                  <a:txBody>
                    <a:bodyPr anchor="t">
                      <a:noAutofit/>
                    </a:bodyPr>
                    <a:p>
                      <a:pPr defTabSz="914400">
                        <a:lnSpc>
                          <a:spcPct val="100000"/>
                        </a:lnSpc>
                        <a:tabLst>
                          <a:tab pos="0" algn="l"/>
                        </a:tabLst>
                      </a:pPr>
                      <a:r>
                        <a:rPr lang="en-US" sz="1100" b="0" u="none" strike="noStrike">
                          <a:solidFill>
                            <a:srgbClr val="FFFFFF"/>
                          </a:solidFill>
                          <a:effectLst/>
                          <a:uFillTx/>
                          <a:latin typeface="Arial"/>
                          <a:ea typeface="Arial"/>
                        </a:rPr>
                        <a:t>255</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c>
                  <a:txBody>
                    <a:bodyPr anchor="t">
                      <a:noAutofit/>
                    </a:bodyPr>
                    <a:p>
                      <a:pPr defTabSz="914400">
                        <a:lnSpc>
                          <a:spcPct val="100000"/>
                        </a:lnSpc>
                        <a:tabLst>
                          <a:tab pos="0" algn="l"/>
                        </a:tabLst>
                      </a:pPr>
                      <a:r>
                        <a:rPr lang="en-US" sz="1100" b="0" u="none" strike="noStrike">
                          <a:solidFill>
                            <a:srgbClr val="FFFFFF"/>
                          </a:solidFill>
                          <a:effectLst/>
                          <a:uFillTx/>
                          <a:latin typeface="Arial"/>
                          <a:ea typeface="Arial"/>
                        </a:rPr>
                        <a:t>100%</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c>
                  <a:txBody>
                    <a:bodyPr anchor="t">
                      <a:noAutofit/>
                    </a:bodyPr>
                    <a:p>
                      <a:pPr defTabSz="914400">
                        <a:lnSpc>
                          <a:spcPct val="100000"/>
                        </a:lnSpc>
                        <a:tabLst>
                          <a:tab pos="0" algn="l"/>
                        </a:tabLst>
                      </a:pPr>
                      <a:r>
                        <a:rPr lang="en-US" sz="1100" b="0" u="none" strike="noStrike">
                          <a:solidFill>
                            <a:srgbClr val="FFFFFF"/>
                          </a:solidFill>
                          <a:effectLst/>
                          <a:uFillTx/>
                          <a:latin typeface="Arial"/>
                          <a:ea typeface="Arial"/>
                        </a:rPr>
                        <a:t>Full</a:t>
                      </a:r>
                      <a:endParaRPr lang="en-GB" sz="1100" b="0" u="none" strike="noStrike">
                        <a:solidFill>
                          <a:srgbClr val="FFFFFF"/>
                        </a:solidFill>
                        <a:effectLst/>
                        <a:uFillTx/>
                        <a:latin typeface="Arial"/>
                      </a:endParaRPr>
                    </a:p>
                  </a:txBody>
                  <a:tcPr anchor="t" marL="91440" marR="91440" marT="45720" marB="45720">
                    <a:lnL w="6480">
                      <a:solidFill>
                        <a:srgbClr val="0F3460"/>
                      </a:solidFill>
                      <a:prstDash val="solid"/>
                    </a:lnL>
                    <a:lnR w="6480">
                      <a:solidFill>
                        <a:srgbClr val="0F3460"/>
                      </a:solidFill>
                      <a:prstDash val="solid"/>
                    </a:lnR>
                    <a:lnT w="6480">
                      <a:solidFill>
                        <a:srgbClr val="0F3460"/>
                      </a:solidFill>
                      <a:prstDash val="solid"/>
                    </a:lnT>
                    <a:lnB w="6480">
                      <a:solidFill>
                        <a:srgbClr val="0F3460"/>
                      </a:solidFill>
                      <a:prstDash val="solid"/>
                    </a:lnB>
                    <a:solidFill>
                      <a:srgbClr val="16213E"/>
                    </a:solidFill>
                  </a:tcPr>
                </a:tc>
              </a:tr>
            </a:tbl>
          </a:graphicData>
        </a:graphic>
      </p:graphicFrame>
      <p:sp>
        <p:nvSpPr>
          <p:cNvPr id="67" name="Shape 6"/>
          <p:cNvSpPr/>
          <p:nvPr/>
        </p:nvSpPr>
        <p:spPr>
          <a:xfrm>
            <a:off x="4663440" y="1097280"/>
            <a:ext cx="4114080" cy="3565440"/>
          </a:xfrm>
          <a:prstGeom prst="roundRect">
            <a:avLst>
              <a:gd name="adj" fmla="val 3077"/>
            </a:avLst>
          </a:prstGeom>
          <a:solidFill>
            <a:srgbClr val="16213E"/>
          </a:solidFill>
          <a:ln w="6350">
            <a:solidFill>
              <a:srgbClr val="D0E8F0"/>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68" name="Text 7"/>
          <p:cNvSpPr/>
          <p:nvPr/>
        </p:nvSpPr>
        <p:spPr>
          <a:xfrm>
            <a:off x="4827960" y="1170360"/>
            <a:ext cx="374832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B4D8"/>
                </a:solidFill>
                <a:effectLst/>
                <a:uFillTx/>
                <a:latin typeface="Arial"/>
                <a:ea typeface="Arial"/>
              </a:rPr>
              <a:t>Timer0 Fast PWM Setup</a:t>
            </a:r>
            <a:endParaRPr lang="en-GB" sz="1300" b="0" u="none" strike="noStrike">
              <a:solidFill>
                <a:srgbClr val="FFFFFF"/>
              </a:solidFill>
              <a:effectLst/>
              <a:uFillTx/>
              <a:latin typeface="Arial"/>
            </a:endParaRPr>
          </a:p>
        </p:txBody>
      </p:sp>
      <p:sp>
        <p:nvSpPr>
          <p:cNvPr id="69" name="Shape 8"/>
          <p:cNvSpPr/>
          <p:nvPr/>
        </p:nvSpPr>
        <p:spPr>
          <a:xfrm>
            <a:off x="4754880" y="1600200"/>
            <a:ext cx="3839760" cy="566280"/>
          </a:xfrm>
          <a:prstGeom prst="roundRect">
            <a:avLst>
              <a:gd name="adj" fmla="val 12903"/>
            </a:avLst>
          </a:prstGeom>
          <a:solidFill>
            <a:srgbClr val="0F3460">
              <a:alpha val="70000"/>
            </a:srgbClr>
          </a:solidFill>
          <a:ln w="6350">
            <a:solidFill>
              <a:srgbClr val="00B4D8"/>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70" name="Text 9"/>
          <p:cNvSpPr/>
          <p:nvPr/>
        </p:nvSpPr>
        <p:spPr>
          <a:xfrm>
            <a:off x="4846320" y="1645920"/>
            <a:ext cx="16452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00B4D8"/>
                </a:solidFill>
                <a:effectLst/>
                <a:uFillTx/>
                <a:latin typeface="Courier New"/>
                <a:ea typeface="Courier New"/>
              </a:rPr>
              <a:t>WGM01:WGM00</a:t>
            </a:r>
            <a:endParaRPr lang="en-GB" sz="1000" b="0" u="none" strike="noStrike">
              <a:solidFill>
                <a:srgbClr val="FFFFFF"/>
              </a:solidFill>
              <a:effectLst/>
              <a:uFillTx/>
              <a:latin typeface="Arial"/>
            </a:endParaRPr>
          </a:p>
        </p:txBody>
      </p:sp>
      <p:sp>
        <p:nvSpPr>
          <p:cNvPr id="71" name="Text 10"/>
          <p:cNvSpPr/>
          <p:nvPr/>
        </p:nvSpPr>
        <p:spPr>
          <a:xfrm>
            <a:off x="6492240" y="1645920"/>
            <a:ext cx="63936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FFFFFF"/>
                </a:solidFill>
                <a:effectLst/>
                <a:uFillTx/>
                <a:latin typeface="Courier New"/>
                <a:ea typeface="Courier New"/>
              </a:rPr>
              <a:t>= 1:1</a:t>
            </a:r>
            <a:endParaRPr lang="en-GB" sz="1000" b="0" u="none" strike="noStrike">
              <a:solidFill>
                <a:srgbClr val="FFFFFF"/>
              </a:solidFill>
              <a:effectLst/>
              <a:uFillTx/>
              <a:latin typeface="Arial"/>
            </a:endParaRPr>
          </a:p>
        </p:txBody>
      </p:sp>
      <p:sp>
        <p:nvSpPr>
          <p:cNvPr id="72" name="Text 11"/>
          <p:cNvSpPr/>
          <p:nvPr/>
        </p:nvSpPr>
        <p:spPr>
          <a:xfrm>
            <a:off x="4846320" y="1892880"/>
            <a:ext cx="3656880" cy="23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B0C4D8"/>
                </a:solidFill>
                <a:effectLst/>
                <a:uFillTx/>
                <a:latin typeface="Arial"/>
                <a:ea typeface="Arial"/>
              </a:rPr>
              <a:t>Fast PWM mode</a:t>
            </a:r>
            <a:endParaRPr lang="en-GB" sz="1000" b="0" u="none" strike="noStrike">
              <a:solidFill>
                <a:srgbClr val="FFFFFF"/>
              </a:solidFill>
              <a:effectLst/>
              <a:uFillTx/>
              <a:latin typeface="Arial"/>
            </a:endParaRPr>
          </a:p>
        </p:txBody>
      </p:sp>
      <p:sp>
        <p:nvSpPr>
          <p:cNvPr id="73" name="Shape 12"/>
          <p:cNvSpPr/>
          <p:nvPr/>
        </p:nvSpPr>
        <p:spPr>
          <a:xfrm>
            <a:off x="4754880" y="2258640"/>
            <a:ext cx="3839760" cy="566280"/>
          </a:xfrm>
          <a:prstGeom prst="roundRect">
            <a:avLst>
              <a:gd name="adj" fmla="val 12903"/>
            </a:avLst>
          </a:prstGeom>
          <a:solidFill>
            <a:srgbClr val="0F3460">
              <a:alpha val="70000"/>
            </a:srgbClr>
          </a:solidFill>
          <a:ln w="6350">
            <a:solidFill>
              <a:srgbClr val="00B4D8"/>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74" name="Text 13"/>
          <p:cNvSpPr/>
          <p:nvPr/>
        </p:nvSpPr>
        <p:spPr>
          <a:xfrm>
            <a:off x="4846320" y="2304360"/>
            <a:ext cx="16452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00B4D8"/>
                </a:solidFill>
                <a:effectLst/>
                <a:uFillTx/>
                <a:latin typeface="Courier New"/>
                <a:ea typeface="Courier New"/>
              </a:rPr>
              <a:t>COM01:COM00</a:t>
            </a:r>
            <a:endParaRPr lang="en-GB" sz="1000" b="0" u="none" strike="noStrike">
              <a:solidFill>
                <a:srgbClr val="FFFFFF"/>
              </a:solidFill>
              <a:effectLst/>
              <a:uFillTx/>
              <a:latin typeface="Arial"/>
            </a:endParaRPr>
          </a:p>
        </p:txBody>
      </p:sp>
      <p:sp>
        <p:nvSpPr>
          <p:cNvPr id="75" name="Text 14"/>
          <p:cNvSpPr/>
          <p:nvPr/>
        </p:nvSpPr>
        <p:spPr>
          <a:xfrm>
            <a:off x="6492240" y="2304360"/>
            <a:ext cx="63936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FFFFFF"/>
                </a:solidFill>
                <a:effectLst/>
                <a:uFillTx/>
                <a:latin typeface="Courier New"/>
                <a:ea typeface="Courier New"/>
              </a:rPr>
              <a:t>= 1:0</a:t>
            </a:r>
            <a:endParaRPr lang="en-GB" sz="1000" b="0" u="none" strike="noStrike">
              <a:solidFill>
                <a:srgbClr val="FFFFFF"/>
              </a:solidFill>
              <a:effectLst/>
              <a:uFillTx/>
              <a:latin typeface="Arial"/>
            </a:endParaRPr>
          </a:p>
        </p:txBody>
      </p:sp>
      <p:sp>
        <p:nvSpPr>
          <p:cNvPr id="76" name="Text 15"/>
          <p:cNvSpPr/>
          <p:nvPr/>
        </p:nvSpPr>
        <p:spPr>
          <a:xfrm>
            <a:off x="4846320" y="2551320"/>
            <a:ext cx="3656880" cy="23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B0C4D8"/>
                </a:solidFill>
                <a:effectLst/>
                <a:uFillTx/>
                <a:latin typeface="Arial"/>
                <a:ea typeface="Arial"/>
              </a:rPr>
              <a:t>Non-inverting output</a:t>
            </a:r>
            <a:endParaRPr lang="en-GB" sz="1000" b="0" u="none" strike="noStrike">
              <a:solidFill>
                <a:srgbClr val="FFFFFF"/>
              </a:solidFill>
              <a:effectLst/>
              <a:uFillTx/>
              <a:latin typeface="Arial"/>
            </a:endParaRPr>
          </a:p>
        </p:txBody>
      </p:sp>
      <p:sp>
        <p:nvSpPr>
          <p:cNvPr id="77" name="Shape 16"/>
          <p:cNvSpPr/>
          <p:nvPr/>
        </p:nvSpPr>
        <p:spPr>
          <a:xfrm>
            <a:off x="4754880" y="2917080"/>
            <a:ext cx="3839760" cy="566280"/>
          </a:xfrm>
          <a:prstGeom prst="roundRect">
            <a:avLst>
              <a:gd name="adj" fmla="val 12903"/>
            </a:avLst>
          </a:prstGeom>
          <a:solidFill>
            <a:srgbClr val="0F3460">
              <a:alpha val="70000"/>
            </a:srgbClr>
          </a:solidFill>
          <a:ln w="6350">
            <a:solidFill>
              <a:srgbClr val="00B4D8"/>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78" name="Text 17"/>
          <p:cNvSpPr/>
          <p:nvPr/>
        </p:nvSpPr>
        <p:spPr>
          <a:xfrm>
            <a:off x="4846320" y="2962800"/>
            <a:ext cx="16452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00B4D8"/>
                </a:solidFill>
                <a:effectLst/>
                <a:uFillTx/>
                <a:latin typeface="Courier New"/>
                <a:ea typeface="Courier New"/>
              </a:rPr>
              <a:t>CS02:CS00</a:t>
            </a:r>
            <a:endParaRPr lang="en-GB" sz="1000" b="0" u="none" strike="noStrike">
              <a:solidFill>
                <a:srgbClr val="FFFFFF"/>
              </a:solidFill>
              <a:effectLst/>
              <a:uFillTx/>
              <a:latin typeface="Arial"/>
            </a:endParaRPr>
          </a:p>
        </p:txBody>
      </p:sp>
      <p:sp>
        <p:nvSpPr>
          <p:cNvPr id="79" name="Text 18"/>
          <p:cNvSpPr/>
          <p:nvPr/>
        </p:nvSpPr>
        <p:spPr>
          <a:xfrm>
            <a:off x="6492240" y="2962800"/>
            <a:ext cx="63936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FFFFFF"/>
                </a:solidFill>
                <a:effectLst/>
                <a:uFillTx/>
                <a:latin typeface="Courier New"/>
                <a:ea typeface="Courier New"/>
              </a:rPr>
              <a:t>= 001</a:t>
            </a:r>
            <a:endParaRPr lang="en-GB" sz="1000" b="0" u="none" strike="noStrike">
              <a:solidFill>
                <a:srgbClr val="FFFFFF"/>
              </a:solidFill>
              <a:effectLst/>
              <a:uFillTx/>
              <a:latin typeface="Arial"/>
            </a:endParaRPr>
          </a:p>
        </p:txBody>
      </p:sp>
      <p:sp>
        <p:nvSpPr>
          <p:cNvPr id="80" name="Text 19"/>
          <p:cNvSpPr/>
          <p:nvPr/>
        </p:nvSpPr>
        <p:spPr>
          <a:xfrm>
            <a:off x="4846320" y="3209400"/>
            <a:ext cx="3656880" cy="23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B0C4D8"/>
                </a:solidFill>
                <a:effectLst/>
                <a:uFillTx/>
                <a:latin typeface="Arial"/>
                <a:ea typeface="Arial"/>
              </a:rPr>
              <a:t>No prescaler (CLK/1)</a:t>
            </a:r>
            <a:endParaRPr lang="en-GB" sz="1000" b="0" u="none" strike="noStrike">
              <a:solidFill>
                <a:srgbClr val="FFFFFF"/>
              </a:solidFill>
              <a:effectLst/>
              <a:uFillTx/>
              <a:latin typeface="Arial"/>
            </a:endParaRPr>
          </a:p>
        </p:txBody>
      </p:sp>
      <p:sp>
        <p:nvSpPr>
          <p:cNvPr id="81" name="Text 20"/>
          <p:cNvSpPr/>
          <p:nvPr/>
        </p:nvSpPr>
        <p:spPr>
          <a:xfrm>
            <a:off x="4827960" y="3620880"/>
            <a:ext cx="374832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B4D8"/>
                </a:solidFill>
                <a:effectLst/>
                <a:uFillTx/>
                <a:latin typeface="Arial"/>
                <a:ea typeface="Arial"/>
              </a:rPr>
              <a:t>Frequency Calculation</a:t>
            </a:r>
            <a:endParaRPr lang="en-GB" sz="1300" b="0" u="none" strike="noStrike">
              <a:solidFill>
                <a:srgbClr val="FFFFFF"/>
              </a:solidFill>
              <a:effectLst/>
              <a:uFillTx/>
              <a:latin typeface="Arial"/>
            </a:endParaRPr>
          </a:p>
        </p:txBody>
      </p:sp>
      <p:sp>
        <p:nvSpPr>
          <p:cNvPr id="82" name="Text 21"/>
          <p:cNvSpPr/>
          <p:nvPr/>
        </p:nvSpPr>
        <p:spPr>
          <a:xfrm>
            <a:off x="4754880" y="3931920"/>
            <a:ext cx="39312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0B4D8"/>
                </a:solidFill>
                <a:effectLst/>
                <a:uFillTx/>
                <a:latin typeface="Courier New"/>
                <a:ea typeface="Courier New"/>
              </a:rPr>
              <a:t>f = 8,000,000 / (1 × 256) = 31.25 kHz</a:t>
            </a:r>
            <a:endParaRPr lang="en-GB" sz="1200" b="0" u="none" strike="noStrike">
              <a:solidFill>
                <a:srgbClr val="FFFFFF"/>
              </a:solidFill>
              <a:effectLst/>
              <a:uFillTx/>
              <a:latin typeface="Arial"/>
            </a:endParaRPr>
          </a:p>
        </p:txBody>
      </p:sp>
      <p:sp>
        <p:nvSpPr>
          <p:cNvPr id="83" name="Text 22"/>
          <p:cNvSpPr/>
          <p:nvPr/>
        </p:nvSpPr>
        <p:spPr>
          <a:xfrm>
            <a:off x="4754880" y="4334400"/>
            <a:ext cx="39312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B0C4D8"/>
                </a:solidFill>
                <a:effectLst/>
                <a:uFillTx/>
                <a:latin typeface="Arial"/>
                <a:ea typeface="Arial"/>
              </a:rPr>
              <a:t>Fixed frequency — only duty cycle changes with OCR0</a:t>
            </a:r>
            <a:endParaRPr lang="en-GB"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84" name="Text 0"/>
          <p:cNvSpPr/>
          <p:nvPr/>
        </p:nvSpPr>
        <p:spPr>
          <a:xfrm>
            <a:off x="457200" y="255960"/>
            <a:ext cx="822888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00B4D8"/>
                </a:solidFill>
                <a:effectLst/>
                <a:uFillTx/>
                <a:latin typeface="Arial"/>
                <a:ea typeface="Arial"/>
              </a:rPr>
              <a:t>Firmware Implementation</a:t>
            </a:r>
            <a:endParaRPr lang="en-GB" sz="3000" b="0" u="none" strike="noStrike">
              <a:solidFill>
                <a:srgbClr val="FFFFFF"/>
              </a:solidFill>
              <a:effectLst/>
              <a:uFillTx/>
              <a:latin typeface="Arial"/>
            </a:endParaRPr>
          </a:p>
        </p:txBody>
      </p:sp>
      <p:sp>
        <p:nvSpPr>
          <p:cNvPr id="85" name="Shape 1"/>
          <p:cNvSpPr/>
          <p:nvPr/>
        </p:nvSpPr>
        <p:spPr>
          <a:xfrm>
            <a:off x="457200" y="960120"/>
            <a:ext cx="8229600" cy="360"/>
          </a:xfrm>
          <a:prstGeom prst="line">
            <a:avLst/>
          </a:prstGeom>
          <a:ln w="12700">
            <a:solidFill>
              <a:srgbClr val="0F3460"/>
            </a:solidFill>
            <a:round/>
          </a:ln>
        </p:spPr>
        <p:style>
          <a:lnRef idx="0"/>
          <a:fillRef idx="0"/>
          <a:effectRef idx="0"/>
          <a:fontRef idx="minor"/>
        </p:style>
        <p:txBody>
          <a:bodyPr lIns="90000" tIns="-44640" rIns="90000" bIns="-44640" anchor="t" anchorCtr="1">
            <a:noAutofit/>
          </a:bodyPr>
          <a:p>
            <a:endParaRPr lang="en-GB" sz="1800" b="0" u="none" strike="noStrike">
              <a:solidFill>
                <a:srgbClr val="FFFFFF"/>
              </a:solidFill>
              <a:effectLst/>
              <a:uFillTx/>
              <a:latin typeface="Arial"/>
            </a:endParaRPr>
          </a:p>
        </p:txBody>
      </p:sp>
      <p:sp>
        <p:nvSpPr>
          <p:cNvPr id="86" name="Shape 2"/>
          <p:cNvSpPr/>
          <p:nvPr/>
        </p:nvSpPr>
        <p:spPr>
          <a:xfrm>
            <a:off x="365760" y="1097280"/>
            <a:ext cx="4022640" cy="3565440"/>
          </a:xfrm>
          <a:prstGeom prst="roundRect">
            <a:avLst>
              <a:gd name="adj" fmla="val 3077"/>
            </a:avLst>
          </a:prstGeom>
          <a:solidFill>
            <a:srgbClr val="16213E"/>
          </a:solidFill>
          <a:ln w="6350">
            <a:solidFill>
              <a:srgbClr val="D0E8F0"/>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87" name="Text 3"/>
          <p:cNvSpPr/>
          <p:nvPr/>
        </p:nvSpPr>
        <p:spPr>
          <a:xfrm>
            <a:off x="548640" y="1170360"/>
            <a:ext cx="3656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B4D8"/>
                </a:solidFill>
                <a:effectLst/>
                <a:uFillTx/>
                <a:latin typeface="Arial"/>
                <a:ea typeface="Arial"/>
              </a:rPr>
              <a:t>Main Program Structure</a:t>
            </a:r>
            <a:endParaRPr lang="en-GB" sz="1300" b="0" u="none" strike="noStrike">
              <a:solidFill>
                <a:srgbClr val="FFFFFF"/>
              </a:solidFill>
              <a:effectLst/>
              <a:uFillTx/>
              <a:latin typeface="Arial"/>
            </a:endParaRPr>
          </a:p>
        </p:txBody>
      </p:sp>
      <p:sp>
        <p:nvSpPr>
          <p:cNvPr id="88" name="Text 4"/>
          <p:cNvSpPr/>
          <p:nvPr/>
        </p:nvSpPr>
        <p:spPr>
          <a:xfrm>
            <a:off x="502920" y="1572840"/>
            <a:ext cx="3748320" cy="2925360"/>
          </a:xfrm>
          <a:prstGeom prst="rect">
            <a:avLst/>
          </a:prstGeom>
          <a:noFill/>
          <a:ln w="0">
            <a:noFill/>
          </a:ln>
        </p:spPr>
        <p:style>
          <a:lnRef idx="0"/>
          <a:fillRef idx="0"/>
          <a:effectRef idx="0"/>
          <a:fontRef idx="minor"/>
        </p:style>
        <p:txBody>
          <a:bodyPr lIns="101520" tIns="101520" rIns="101520" bIns="101520" anchor="t">
            <a:noAutofit/>
          </a:bodyPr>
          <a:p>
            <a:pPr defTabSz="914400">
              <a:lnSpc>
                <a:spcPct val="100000"/>
              </a:lnSpc>
              <a:tabLst>
                <a:tab pos="0" algn="l"/>
              </a:tabLst>
            </a:pPr>
            <a:r>
              <a:rPr lang="en-US" sz="1100" b="0" u="none" strike="noStrike">
                <a:solidFill>
                  <a:srgbClr val="90E0EF"/>
                </a:solidFill>
                <a:effectLst/>
                <a:uFillTx/>
                <a:latin typeface="Courier New"/>
                <a:ea typeface="Courier New"/>
              </a:rPr>
              <a:t>main()</a:t>
            </a:r>
            <a:endParaRPr lang="en-GB" sz="1100" b="0" u="none" strike="noStrike">
              <a:solidFill>
                <a:srgbClr val="FFFFFF"/>
              </a:solidFill>
              <a:effectLst/>
              <a:uFillTx/>
              <a:latin typeface="Arial"/>
            </a:endParaRPr>
          </a:p>
          <a:p>
            <a:pPr defTabSz="914400">
              <a:lnSpc>
                <a:spcPct val="100000"/>
              </a:lnSpc>
              <a:tabLst>
                <a:tab pos="0" algn="l"/>
              </a:tabLst>
            </a:pPr>
            <a:r>
              <a:rPr lang="en-US" sz="1100" b="0" u="none" strike="noStrike">
                <a:solidFill>
                  <a:srgbClr val="90E0EF"/>
                </a:solidFill>
                <a:effectLst/>
                <a:uFillTx/>
                <a:latin typeface="Courier New"/>
                <a:ea typeface="Courier New"/>
              </a:rPr>
              <a:t>{</a:t>
            </a:r>
            <a:endParaRPr lang="en-GB" sz="1100" b="0" u="none" strike="noStrike">
              <a:solidFill>
                <a:srgbClr val="FFFFFF"/>
              </a:solidFill>
              <a:effectLst/>
              <a:uFillTx/>
              <a:latin typeface="Arial"/>
            </a:endParaRPr>
          </a:p>
          <a:p>
            <a:pPr defTabSz="914400">
              <a:lnSpc>
                <a:spcPct val="100000"/>
              </a:lnSpc>
              <a:tabLst>
                <a:tab pos="0" algn="l"/>
              </a:tabLst>
            </a:pPr>
            <a:r>
              <a:rPr lang="en-US" sz="1100" b="0" u="none" strike="noStrike">
                <a:solidFill>
                  <a:srgbClr val="90E0EF"/>
                </a:solidFill>
                <a:effectLst/>
                <a:uFillTx/>
                <a:latin typeface="Courier New"/>
                <a:ea typeface="Courier New"/>
              </a:rPr>
              <a:t>  initialize_gpio();</a:t>
            </a:r>
            <a:endParaRPr lang="en-GB" sz="1100" b="0" u="none" strike="noStrike">
              <a:solidFill>
                <a:srgbClr val="FFFFFF"/>
              </a:solidFill>
              <a:effectLst/>
              <a:uFillTx/>
              <a:latin typeface="Arial"/>
            </a:endParaRPr>
          </a:p>
          <a:p>
            <a:pPr defTabSz="914400">
              <a:lnSpc>
                <a:spcPct val="100000"/>
              </a:lnSpc>
              <a:tabLst>
                <a:tab pos="0" algn="l"/>
              </a:tabLst>
            </a:pPr>
            <a:r>
              <a:rPr lang="en-US" sz="1100" b="0" u="none" strike="noStrike">
                <a:solidFill>
                  <a:srgbClr val="90E0EF"/>
                </a:solidFill>
                <a:effectLst/>
                <a:uFillTx/>
                <a:latin typeface="Courier New"/>
                <a:ea typeface="Courier New"/>
              </a:rPr>
              <a:t>  initialize_pwm();</a:t>
            </a:r>
            <a:endParaRPr lang="en-GB" sz="1100" b="0" u="none" strike="noStrike">
              <a:solidFill>
                <a:srgbClr val="FFFFFF"/>
              </a:solidFill>
              <a:effectLst/>
              <a:uFillTx/>
              <a:latin typeface="Arial"/>
            </a:endParaRPr>
          </a:p>
          <a:p>
            <a:pPr defTabSz="914400">
              <a:lnSpc>
                <a:spcPct val="100000"/>
              </a:lnSpc>
              <a:tabLst>
                <a:tab pos="0" algn="l"/>
              </a:tabLst>
            </a:pPr>
            <a:r>
              <a:rPr lang="en-US" sz="1100" b="0" u="none" strike="noStrike">
                <a:solidFill>
                  <a:srgbClr val="90E0EF"/>
                </a:solidFill>
                <a:effectLst/>
                <a:uFillTx/>
                <a:latin typeface="Courier New"/>
                <a:ea typeface="Courier New"/>
              </a:rPr>
              <a:t>  while(1)</a:t>
            </a:r>
            <a:endParaRPr lang="en-GB" sz="1100" b="0" u="none" strike="noStrike">
              <a:solidFill>
                <a:srgbClr val="FFFFFF"/>
              </a:solidFill>
              <a:effectLst/>
              <a:uFillTx/>
              <a:latin typeface="Arial"/>
            </a:endParaRPr>
          </a:p>
          <a:p>
            <a:pPr defTabSz="914400">
              <a:lnSpc>
                <a:spcPct val="100000"/>
              </a:lnSpc>
              <a:tabLst>
                <a:tab pos="0" algn="l"/>
              </a:tabLst>
            </a:pPr>
            <a:r>
              <a:rPr lang="en-US" sz="1100" b="0" u="none" strike="noStrike">
                <a:solidFill>
                  <a:srgbClr val="90E0EF"/>
                </a:solidFill>
                <a:effectLst/>
                <a:uFillTx/>
                <a:latin typeface="Courier New"/>
                <a:ea typeface="Courier New"/>
              </a:rPr>
              <a:t>  {</a:t>
            </a:r>
            <a:endParaRPr lang="en-GB" sz="1100" b="0" u="none" strike="noStrike">
              <a:solidFill>
                <a:srgbClr val="FFFFFF"/>
              </a:solidFill>
              <a:effectLst/>
              <a:uFillTx/>
              <a:latin typeface="Arial"/>
            </a:endParaRPr>
          </a:p>
          <a:p>
            <a:pPr defTabSz="914400">
              <a:lnSpc>
                <a:spcPct val="100000"/>
              </a:lnSpc>
              <a:tabLst>
                <a:tab pos="0" algn="l"/>
              </a:tabLst>
            </a:pPr>
            <a:r>
              <a:rPr lang="en-US" sz="1100" b="0" u="none" strike="noStrike">
                <a:solidFill>
                  <a:srgbClr val="90E0EF"/>
                </a:solidFill>
                <a:effectLst/>
                <a:uFillTx/>
                <a:latin typeface="Courier New"/>
                <a:ea typeface="Courier New"/>
              </a:rPr>
              <a:t>    read_buttons();</a:t>
            </a:r>
            <a:endParaRPr lang="en-GB" sz="1100" b="0" u="none" strike="noStrike">
              <a:solidFill>
                <a:srgbClr val="FFFFFF"/>
              </a:solidFill>
              <a:effectLst/>
              <a:uFillTx/>
              <a:latin typeface="Arial"/>
            </a:endParaRPr>
          </a:p>
          <a:p>
            <a:pPr defTabSz="914400">
              <a:lnSpc>
                <a:spcPct val="100000"/>
              </a:lnSpc>
              <a:tabLst>
                <a:tab pos="0" algn="l"/>
              </a:tabLst>
            </a:pPr>
            <a:r>
              <a:rPr lang="en-US" sz="1100" b="0" u="none" strike="noStrike">
                <a:solidFill>
                  <a:srgbClr val="90E0EF"/>
                </a:solidFill>
                <a:effectLst/>
                <a:uFillTx/>
                <a:latin typeface="Courier New"/>
                <a:ea typeface="Courier New"/>
              </a:rPr>
              <a:t>    update_duty_cycle();</a:t>
            </a:r>
            <a:endParaRPr lang="en-GB" sz="1100" b="0" u="none" strike="noStrike">
              <a:solidFill>
                <a:srgbClr val="FFFFFF"/>
              </a:solidFill>
              <a:effectLst/>
              <a:uFillTx/>
              <a:latin typeface="Arial"/>
            </a:endParaRPr>
          </a:p>
          <a:p>
            <a:pPr defTabSz="914400">
              <a:lnSpc>
                <a:spcPct val="100000"/>
              </a:lnSpc>
              <a:tabLst>
                <a:tab pos="0" algn="l"/>
              </a:tabLst>
            </a:pPr>
            <a:r>
              <a:rPr lang="en-US" sz="1100" b="0" u="none" strike="noStrike">
                <a:solidFill>
                  <a:srgbClr val="90E0EF"/>
                </a:solidFill>
                <a:effectLst/>
                <a:uFillTx/>
                <a:latin typeface="Courier New"/>
                <a:ea typeface="Courier New"/>
              </a:rPr>
              <a:t>    update_speed_indicators();</a:t>
            </a:r>
            <a:endParaRPr lang="en-GB" sz="1100" b="0" u="none" strike="noStrike">
              <a:solidFill>
                <a:srgbClr val="FFFFFF"/>
              </a:solidFill>
              <a:effectLst/>
              <a:uFillTx/>
              <a:latin typeface="Arial"/>
            </a:endParaRPr>
          </a:p>
          <a:p>
            <a:pPr defTabSz="914400">
              <a:lnSpc>
                <a:spcPct val="100000"/>
              </a:lnSpc>
              <a:tabLst>
                <a:tab pos="0" algn="l"/>
              </a:tabLst>
            </a:pPr>
            <a:r>
              <a:rPr lang="en-US" sz="1100" b="0" u="none" strike="noStrike">
                <a:solidFill>
                  <a:srgbClr val="90E0EF"/>
                </a:solidFill>
                <a:effectLst/>
                <a:uFillTx/>
                <a:latin typeface="Courier New"/>
                <a:ea typeface="Courier New"/>
              </a:rPr>
              <a:t>  }</a:t>
            </a:r>
            <a:endParaRPr lang="en-GB" sz="1100" b="0" u="none" strike="noStrike">
              <a:solidFill>
                <a:srgbClr val="FFFFFF"/>
              </a:solidFill>
              <a:effectLst/>
              <a:uFillTx/>
              <a:latin typeface="Arial"/>
            </a:endParaRPr>
          </a:p>
          <a:p>
            <a:pPr defTabSz="914400">
              <a:lnSpc>
                <a:spcPct val="100000"/>
              </a:lnSpc>
              <a:tabLst>
                <a:tab pos="0" algn="l"/>
              </a:tabLst>
            </a:pPr>
            <a:r>
              <a:rPr lang="en-US" sz="1100" b="0" u="none" strike="noStrike">
                <a:solidFill>
                  <a:srgbClr val="90E0EF"/>
                </a:solidFill>
                <a:effectLst/>
                <a:uFillTx/>
                <a:latin typeface="Courier New"/>
                <a:ea typeface="Courier New"/>
              </a:rPr>
              <a:t>}</a:t>
            </a:r>
            <a:endParaRPr lang="en-GB" sz="1100" b="0" u="none" strike="noStrike">
              <a:solidFill>
                <a:srgbClr val="FFFFFF"/>
              </a:solidFill>
              <a:effectLst/>
              <a:uFillTx/>
              <a:latin typeface="Arial"/>
            </a:endParaRPr>
          </a:p>
        </p:txBody>
      </p:sp>
      <p:sp>
        <p:nvSpPr>
          <p:cNvPr id="89" name="Shape 5"/>
          <p:cNvSpPr/>
          <p:nvPr/>
        </p:nvSpPr>
        <p:spPr>
          <a:xfrm>
            <a:off x="4705560" y="1080000"/>
            <a:ext cx="4114080" cy="1979640"/>
          </a:xfrm>
          <a:prstGeom prst="roundRect">
            <a:avLst>
              <a:gd name="adj" fmla="val 6667"/>
            </a:avLst>
          </a:prstGeom>
          <a:solidFill>
            <a:srgbClr val="16213E"/>
          </a:solidFill>
          <a:ln w="6350">
            <a:solidFill>
              <a:srgbClr val="D0E8F0"/>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90" name="Text 6"/>
          <p:cNvSpPr/>
          <p:nvPr/>
        </p:nvSpPr>
        <p:spPr>
          <a:xfrm>
            <a:off x="4827960" y="1170360"/>
            <a:ext cx="374832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B4D8"/>
                </a:solidFill>
                <a:effectLst/>
                <a:uFillTx/>
                <a:latin typeface="Arial"/>
                <a:ea typeface="Arial"/>
              </a:rPr>
              <a:t>Button Logic</a:t>
            </a:r>
            <a:endParaRPr lang="en-GB" sz="1300" b="0" u="none" strike="noStrike">
              <a:solidFill>
                <a:srgbClr val="FFFFFF"/>
              </a:solidFill>
              <a:effectLst/>
              <a:uFillTx/>
              <a:latin typeface="Arial"/>
            </a:endParaRPr>
          </a:p>
        </p:txBody>
      </p:sp>
      <p:sp>
        <p:nvSpPr>
          <p:cNvPr id="91" name="Text 7"/>
          <p:cNvSpPr/>
          <p:nvPr/>
        </p:nvSpPr>
        <p:spPr>
          <a:xfrm>
            <a:off x="4800600" y="1572840"/>
            <a:ext cx="3839760" cy="1078200"/>
          </a:xfrm>
          <a:prstGeom prst="rect">
            <a:avLst/>
          </a:prstGeom>
          <a:noFill/>
          <a:ln w="0">
            <a:noFill/>
          </a:ln>
        </p:spPr>
        <p:style>
          <a:lnRef idx="0"/>
          <a:fillRef idx="0"/>
          <a:effectRef idx="0"/>
          <a:fontRef idx="minor"/>
        </p:style>
        <p:txBody>
          <a:bodyPr lIns="76320" tIns="76320" rIns="76320" bIns="76320" anchor="t">
            <a:noAutofit/>
          </a:bodyPr>
          <a:p>
            <a:pPr defTabSz="914400">
              <a:lnSpc>
                <a:spcPct val="100000"/>
              </a:lnSpc>
              <a:tabLst>
                <a:tab pos="0" algn="l"/>
              </a:tabLst>
            </a:pPr>
            <a:r>
              <a:rPr lang="en-US" sz="1100" b="1" u="none" strike="noStrike">
                <a:solidFill>
                  <a:srgbClr val="00B4D8"/>
                </a:solidFill>
                <a:effectLst/>
                <a:uFillTx/>
                <a:latin typeface="Courier New"/>
                <a:ea typeface="Courier New"/>
              </a:rPr>
              <a:t>Increase (PA0)</a:t>
            </a:r>
            <a:endParaRPr lang="en-GB" sz="1100" b="0" u="none" strike="noStrike">
              <a:solidFill>
                <a:srgbClr val="FFFFFF"/>
              </a:solidFill>
              <a:effectLst/>
              <a:uFillTx/>
              <a:latin typeface="Arial"/>
            </a:endParaRPr>
          </a:p>
          <a:p>
            <a:pPr defTabSz="914400">
              <a:lnSpc>
                <a:spcPct val="100000"/>
              </a:lnSpc>
              <a:tabLst>
                <a:tab pos="0" algn="l"/>
              </a:tabLst>
            </a:pPr>
            <a:r>
              <a:rPr lang="en-US" sz="1100" b="0" u="none" strike="noStrike">
                <a:solidFill>
                  <a:srgbClr val="FFFFFF"/>
                </a:solidFill>
                <a:effectLst/>
                <a:uFillTx/>
                <a:latin typeface="Courier New"/>
                <a:ea typeface="Courier New"/>
              </a:rPr>
              <a:t>OCR0 += 64  (max: 255)</a:t>
            </a:r>
            <a:endParaRPr lang="en-GB" sz="1100" b="0" u="none" strike="noStrike">
              <a:solidFill>
                <a:srgbClr val="FFFFFF"/>
              </a:solidFill>
              <a:effectLst/>
              <a:uFillTx/>
              <a:latin typeface="Arial"/>
            </a:endParaRPr>
          </a:p>
          <a:p>
            <a:pPr defTabSz="914400">
              <a:lnSpc>
                <a:spcPct val="100000"/>
              </a:lnSpc>
              <a:tabLst>
                <a:tab pos="0" algn="l"/>
              </a:tabLst>
            </a:pPr>
            <a:endParaRPr lang="en-GB" sz="1100" b="0" u="none" strike="noStrike">
              <a:solidFill>
                <a:srgbClr val="FFFFFF"/>
              </a:solidFill>
              <a:effectLst/>
              <a:uFillTx/>
              <a:latin typeface="Arial"/>
            </a:endParaRPr>
          </a:p>
          <a:p>
            <a:pPr defTabSz="914400">
              <a:lnSpc>
                <a:spcPct val="100000"/>
              </a:lnSpc>
              <a:tabLst>
                <a:tab pos="0" algn="l"/>
              </a:tabLst>
            </a:pPr>
            <a:r>
              <a:rPr lang="en-US" sz="1100" b="1" u="none" strike="noStrike">
                <a:solidFill>
                  <a:srgbClr val="00B4D8"/>
                </a:solidFill>
                <a:effectLst/>
                <a:uFillTx/>
                <a:latin typeface="Courier New"/>
                <a:ea typeface="Courier New"/>
              </a:rPr>
              <a:t>Decrease (PA1)</a:t>
            </a:r>
            <a:endParaRPr lang="en-GB" sz="1100" b="0" u="none" strike="noStrike">
              <a:solidFill>
                <a:srgbClr val="FFFFFF"/>
              </a:solidFill>
              <a:effectLst/>
              <a:uFillTx/>
              <a:latin typeface="Arial"/>
            </a:endParaRPr>
          </a:p>
          <a:p>
            <a:pPr defTabSz="914400">
              <a:lnSpc>
                <a:spcPct val="100000"/>
              </a:lnSpc>
              <a:tabLst>
                <a:tab pos="0" algn="l"/>
              </a:tabLst>
            </a:pPr>
            <a:r>
              <a:rPr lang="en-US" sz="1100" b="0" u="none" strike="noStrike">
                <a:solidFill>
                  <a:srgbClr val="FFFFFF"/>
                </a:solidFill>
                <a:effectLst/>
                <a:uFillTx/>
                <a:latin typeface="Courier New"/>
                <a:ea typeface="Courier New"/>
              </a:rPr>
              <a:t>OCR0 -= 64  (min: 0)</a:t>
            </a:r>
            <a:endParaRPr lang="en-GB" sz="1100" b="0" u="none" strike="noStrike">
              <a:solidFill>
                <a:srgbClr val="FFFFFF"/>
              </a:solidFill>
              <a:effectLst/>
              <a:uFillTx/>
              <a:latin typeface="Arial"/>
            </a:endParaRPr>
          </a:p>
          <a:p>
            <a:pPr defTabSz="914400">
              <a:lnSpc>
                <a:spcPct val="100000"/>
              </a:lnSpc>
              <a:tabLst>
                <a:tab pos="0" algn="l"/>
              </a:tabLst>
            </a:pPr>
            <a:endParaRPr lang="en-GB" sz="1100" b="0" u="none" strike="noStrike">
              <a:solidFill>
                <a:srgbClr val="FFFFFF"/>
              </a:solidFill>
              <a:effectLst/>
              <a:uFillTx/>
              <a:latin typeface="Arial"/>
            </a:endParaRPr>
          </a:p>
          <a:p>
            <a:pPr defTabSz="914400">
              <a:lnSpc>
                <a:spcPct val="100000"/>
              </a:lnSpc>
              <a:tabLst>
                <a:tab pos="0" algn="l"/>
              </a:tabLst>
            </a:pPr>
            <a:r>
              <a:rPr lang="en-US" sz="1100" b="1" u="none" strike="noStrike">
                <a:solidFill>
                  <a:srgbClr val="00B4D8"/>
                </a:solidFill>
                <a:effectLst/>
                <a:uFillTx/>
                <a:latin typeface="Courier New"/>
                <a:ea typeface="Courier New"/>
              </a:rPr>
              <a:t>Stop (PA2)</a:t>
            </a:r>
            <a:endParaRPr lang="en-GB" sz="1100" b="0" u="none" strike="noStrike">
              <a:solidFill>
                <a:srgbClr val="FFFFFF"/>
              </a:solidFill>
              <a:effectLst/>
              <a:uFillTx/>
              <a:latin typeface="Arial"/>
            </a:endParaRPr>
          </a:p>
          <a:p>
            <a:pPr defTabSz="914400">
              <a:lnSpc>
                <a:spcPct val="100000"/>
              </a:lnSpc>
              <a:tabLst>
                <a:tab pos="0" algn="l"/>
              </a:tabLst>
            </a:pPr>
            <a:r>
              <a:rPr lang="en-US" sz="1100" b="0" u="none" strike="noStrike">
                <a:solidFill>
                  <a:srgbClr val="FFFFFF"/>
                </a:solidFill>
                <a:effectLst/>
                <a:uFillTx/>
                <a:latin typeface="Courier New"/>
                <a:ea typeface="Courier New"/>
              </a:rPr>
              <a:t>OCR0 = 0  (immediate stop)</a:t>
            </a:r>
            <a:endParaRPr lang="en-GB" sz="1100" b="0" u="none" strike="noStrike">
              <a:solidFill>
                <a:srgbClr val="FFFFFF"/>
              </a:solidFill>
              <a:effectLst/>
              <a:uFillTx/>
              <a:latin typeface="Arial"/>
            </a:endParaRPr>
          </a:p>
        </p:txBody>
      </p:sp>
      <p:sp>
        <p:nvSpPr>
          <p:cNvPr id="92" name="Shape 8"/>
          <p:cNvSpPr/>
          <p:nvPr/>
        </p:nvSpPr>
        <p:spPr>
          <a:xfrm>
            <a:off x="4680000" y="3180960"/>
            <a:ext cx="4139640" cy="1962360"/>
          </a:xfrm>
          <a:prstGeom prst="roundRect">
            <a:avLst>
              <a:gd name="adj" fmla="val 6154"/>
            </a:avLst>
          </a:prstGeom>
          <a:solidFill>
            <a:srgbClr val="16213E"/>
          </a:solidFill>
          <a:ln w="6350">
            <a:solidFill>
              <a:srgbClr val="D0E8F0"/>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93" name="Text 9"/>
          <p:cNvSpPr/>
          <p:nvPr/>
        </p:nvSpPr>
        <p:spPr>
          <a:xfrm>
            <a:off x="5220000" y="3100320"/>
            <a:ext cx="374832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B4D8"/>
                </a:solidFill>
                <a:effectLst/>
                <a:uFillTx/>
                <a:latin typeface="Arial"/>
                <a:ea typeface="Arial"/>
              </a:rPr>
              <a:t>Safety &amp; Features</a:t>
            </a:r>
            <a:endParaRPr lang="en-GB" sz="1300" b="0" u="none" strike="noStrike">
              <a:solidFill>
                <a:srgbClr val="FFFFFF"/>
              </a:solidFill>
              <a:effectLst/>
              <a:uFillTx/>
              <a:latin typeface="Arial"/>
            </a:endParaRPr>
          </a:p>
        </p:txBody>
      </p:sp>
      <p:sp>
        <p:nvSpPr>
          <p:cNvPr id="94" name="Text 10"/>
          <p:cNvSpPr/>
          <p:nvPr/>
        </p:nvSpPr>
        <p:spPr>
          <a:xfrm>
            <a:off x="4800600" y="3337560"/>
            <a:ext cx="3839760" cy="12337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buClr>
                <a:srgbClr val="B0C4D8"/>
              </a:buClr>
              <a:buFont typeface="Symbol" charset="2"/>
              <a:buChar char=""/>
            </a:pPr>
            <a:r>
              <a:rPr lang="en-US" sz="1000" b="0" u="none" strike="noStrike">
                <a:solidFill>
                  <a:srgbClr val="B0C4D8"/>
                </a:solidFill>
                <a:effectLst/>
                <a:uFillTx/>
                <a:latin typeface="Arial"/>
                <a:ea typeface="Arial"/>
              </a:rPr>
              <a:t>Upper limit: OCR0 capped at 255</a:t>
            </a:r>
            <a:endParaRPr lang="en-GB" sz="1000" b="0" u="none" strike="noStrike">
              <a:solidFill>
                <a:srgbClr val="FFFFFF"/>
              </a:solidFill>
              <a:effectLst/>
              <a:uFillTx/>
              <a:latin typeface="Arial"/>
            </a:endParaRPr>
          </a:p>
          <a:p>
            <a:pPr marL="343080" indent="-343080" defTabSz="914400">
              <a:lnSpc>
                <a:spcPct val="100000"/>
              </a:lnSpc>
              <a:buClr>
                <a:srgbClr val="B0C4D8"/>
              </a:buClr>
              <a:buFont typeface="Symbol" charset="2"/>
              <a:buChar char=""/>
            </a:pPr>
            <a:r>
              <a:rPr lang="en-US" sz="1000" b="0" u="none" strike="noStrike">
                <a:solidFill>
                  <a:srgbClr val="B0C4D8"/>
                </a:solidFill>
                <a:effectLst/>
                <a:uFillTx/>
                <a:latin typeface="Arial"/>
                <a:ea typeface="Arial"/>
              </a:rPr>
              <a:t>Lower limit: OCR0 floored at 0</a:t>
            </a:r>
            <a:endParaRPr lang="en-GB" sz="1000" b="0" u="none" strike="noStrike">
              <a:solidFill>
                <a:srgbClr val="FFFFFF"/>
              </a:solidFill>
              <a:effectLst/>
              <a:uFillTx/>
              <a:latin typeface="Arial"/>
            </a:endParaRPr>
          </a:p>
          <a:p>
            <a:pPr marL="343080" indent="-343080" defTabSz="914400">
              <a:lnSpc>
                <a:spcPct val="100000"/>
              </a:lnSpc>
              <a:buClr>
                <a:srgbClr val="B0C4D8"/>
              </a:buClr>
              <a:buFont typeface="Symbol" charset="2"/>
              <a:buChar char=""/>
            </a:pPr>
            <a:r>
              <a:rPr lang="en-US" sz="1000" b="0" u="none" strike="noStrike">
                <a:solidFill>
                  <a:srgbClr val="B0C4D8"/>
                </a:solidFill>
                <a:effectLst/>
                <a:uFillTx/>
                <a:latin typeface="Arial"/>
                <a:ea typeface="Arial"/>
              </a:rPr>
              <a:t>Software debounce on all buttons</a:t>
            </a:r>
            <a:endParaRPr lang="en-GB" sz="1000" b="0" u="none" strike="noStrike">
              <a:solidFill>
                <a:srgbClr val="FFFFFF"/>
              </a:solidFill>
              <a:effectLst/>
              <a:uFillTx/>
              <a:latin typeface="Arial"/>
            </a:endParaRPr>
          </a:p>
          <a:p>
            <a:pPr marL="343080" indent="-343080" defTabSz="914400">
              <a:lnSpc>
                <a:spcPct val="100000"/>
              </a:lnSpc>
              <a:buClr>
                <a:srgbClr val="B0C4D8"/>
              </a:buClr>
              <a:buFont typeface="Symbol" charset="2"/>
              <a:buChar char=""/>
            </a:pPr>
            <a:r>
              <a:rPr lang="en-US" sz="1000" b="0" u="none" strike="noStrike">
                <a:solidFill>
                  <a:srgbClr val="B0C4D8"/>
                </a:solidFill>
                <a:effectLst/>
                <a:uFillTx/>
                <a:latin typeface="Arial"/>
                <a:ea typeface="Arial"/>
              </a:rPr>
              <a:t>Safe startup: motor stopped at power-on</a:t>
            </a:r>
            <a:endParaRPr lang="en-GB" sz="1000" b="0" u="none" strike="noStrike">
              <a:solidFill>
                <a:srgbClr val="FFFFFF"/>
              </a:solidFill>
              <a:effectLst/>
              <a:uFillTx/>
              <a:latin typeface="Arial"/>
            </a:endParaRPr>
          </a:p>
          <a:p>
            <a:pPr marL="343080" indent="-343080" defTabSz="914400">
              <a:lnSpc>
                <a:spcPct val="100000"/>
              </a:lnSpc>
              <a:buClr>
                <a:srgbClr val="B0C4D8"/>
              </a:buClr>
              <a:buFont typeface="Symbol" charset="2"/>
              <a:buChar char=""/>
            </a:pPr>
            <a:r>
              <a:rPr lang="en-US" sz="1000" b="0" u="none" strike="noStrike">
                <a:solidFill>
                  <a:srgbClr val="B0C4D8"/>
                </a:solidFill>
                <a:effectLst/>
                <a:uFillTx/>
                <a:latin typeface="Arial"/>
                <a:ea typeface="Arial"/>
              </a:rPr>
              <a:t>Internal pull-ups on PA0–PA2</a:t>
            </a:r>
            <a:endParaRPr lang="en-GB"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8FB"/>
        </a:solidFill>
      </p:bgPr>
    </p:bg>
    <p:spTree>
      <p:nvGrpSpPr>
        <p:cNvPr id="1" name=""/>
        <p:cNvGrpSpPr/>
        <p:nvPr/>
      </p:nvGrpSpPr>
      <p:grpSpPr>
        <a:xfrm>
          <a:off x="0" y="0"/>
          <a:ext cx="0" cy="0"/>
          <a:chOff x="0" y="0"/>
          <a:chExt cx="0" cy="0"/>
        </a:xfrm>
      </p:grpSpPr>
      <p:sp>
        <p:nvSpPr>
          <p:cNvPr id="95" name="Text 0"/>
          <p:cNvSpPr/>
          <p:nvPr/>
        </p:nvSpPr>
        <p:spPr>
          <a:xfrm>
            <a:off x="230760" y="0"/>
            <a:ext cx="822888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A1A2E"/>
                </a:solidFill>
                <a:effectLst/>
                <a:uFillTx/>
                <a:latin typeface="Arial"/>
                <a:ea typeface="Arial"/>
              </a:rPr>
              <a:t>SimulIDE Simulation</a:t>
            </a:r>
            <a:endParaRPr lang="en-GB" sz="3000" b="0" u="none" strike="noStrike">
              <a:solidFill>
                <a:srgbClr val="000000"/>
              </a:solidFill>
              <a:effectLst/>
              <a:uFillTx/>
              <a:latin typeface="Arial"/>
            </a:endParaRPr>
          </a:p>
        </p:txBody>
      </p:sp>
      <p:sp>
        <p:nvSpPr>
          <p:cNvPr id="96" name="Shape 1"/>
          <p:cNvSpPr/>
          <p:nvPr/>
        </p:nvSpPr>
        <p:spPr>
          <a:xfrm>
            <a:off x="50400" y="539640"/>
            <a:ext cx="8229600" cy="360"/>
          </a:xfrm>
          <a:prstGeom prst="line">
            <a:avLst/>
          </a:prstGeom>
          <a:ln w="12700">
            <a:solidFill>
              <a:srgbClr val="C5DCE8"/>
            </a:solidFill>
            <a:roun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97" name="Text 4"/>
          <p:cNvSpPr/>
          <p:nvPr/>
        </p:nvSpPr>
        <p:spPr>
          <a:xfrm>
            <a:off x="438840" y="3399120"/>
            <a:ext cx="5211360" cy="200520"/>
          </a:xfrm>
          <a:prstGeom prst="rect">
            <a:avLst/>
          </a:prstGeom>
          <a:noFill/>
          <a:ln w="0">
            <a:noFill/>
          </a:ln>
        </p:spPr>
        <p:style>
          <a:lnRef idx="0"/>
          <a:fillRef idx="0"/>
          <a:effectRef idx="0"/>
          <a:fontRef idx="minor"/>
        </p:style>
        <p:txBody>
          <a:bodyPr lIns="0" tIns="0" rIns="0" bIns="0" anchor="ctr">
            <a:noAutofit/>
          </a:bodyPr>
          <a:p>
            <a:endParaRPr lang="en-GB" sz="1800" b="0" u="none" strike="noStrike">
              <a:solidFill>
                <a:srgbClr val="000000"/>
              </a:solidFill>
              <a:effectLst/>
              <a:uFillTx/>
              <a:latin typeface="Arial"/>
            </a:endParaRPr>
          </a:p>
        </p:txBody>
      </p:sp>
      <p:sp>
        <p:nvSpPr>
          <p:cNvPr id="98" name="Text 8"/>
          <p:cNvSpPr/>
          <p:nvPr/>
        </p:nvSpPr>
        <p:spPr>
          <a:xfrm>
            <a:off x="365760" y="3657600"/>
            <a:ext cx="2742480" cy="319320"/>
          </a:xfrm>
          <a:prstGeom prst="rect">
            <a:avLst/>
          </a:prstGeom>
          <a:noFill/>
          <a:ln w="0">
            <a:noFill/>
          </a:ln>
        </p:spPr>
        <p:style>
          <a:lnRef idx="0"/>
          <a:fillRef idx="0"/>
          <a:effectRef idx="0"/>
          <a:fontRef idx="minor"/>
        </p:style>
        <p:txBody>
          <a:bodyPr lIns="0" tIns="0" rIns="0" bIns="0" anchor="ctr">
            <a:noAutofit/>
          </a:bodyPr>
          <a:p>
            <a:endParaRPr lang="en-GB" sz="1800" b="0" u="none" strike="noStrike">
              <a:solidFill>
                <a:srgbClr val="000000"/>
              </a:solidFill>
              <a:effectLst/>
              <a:uFillTx/>
              <a:latin typeface="Arial"/>
            </a:endParaRPr>
          </a:p>
        </p:txBody>
      </p:sp>
      <p:pic>
        <p:nvPicPr>
          <p:cNvPr id="99" name=""/>
          <p:cNvPicPr/>
          <p:nvPr/>
        </p:nvPicPr>
        <p:blipFill>
          <a:blip r:embed="rId1"/>
          <a:stretch/>
        </p:blipFill>
        <p:spPr>
          <a:xfrm>
            <a:off x="0" y="-540000"/>
            <a:ext cx="9143640" cy="593964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00" name="Text 0"/>
          <p:cNvSpPr/>
          <p:nvPr/>
        </p:nvSpPr>
        <p:spPr>
          <a:xfrm>
            <a:off x="457200" y="255960"/>
            <a:ext cx="822888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00B4D8"/>
                </a:solidFill>
                <a:effectLst/>
                <a:uFillTx/>
                <a:latin typeface="Arial"/>
                <a:ea typeface="Arial"/>
              </a:rPr>
              <a:t>GitHub Repository</a:t>
            </a:r>
            <a:endParaRPr lang="en-GB" sz="3000" b="0" u="none" strike="noStrike">
              <a:solidFill>
                <a:srgbClr val="FFFFFF"/>
              </a:solidFill>
              <a:effectLst/>
              <a:uFillTx/>
              <a:latin typeface="Arial"/>
            </a:endParaRPr>
          </a:p>
        </p:txBody>
      </p:sp>
      <p:sp>
        <p:nvSpPr>
          <p:cNvPr id="101" name="Shape 1"/>
          <p:cNvSpPr/>
          <p:nvPr/>
        </p:nvSpPr>
        <p:spPr>
          <a:xfrm>
            <a:off x="457200" y="960120"/>
            <a:ext cx="8229600" cy="360"/>
          </a:xfrm>
          <a:prstGeom prst="line">
            <a:avLst/>
          </a:prstGeom>
          <a:ln w="12700">
            <a:solidFill>
              <a:srgbClr val="0F3460"/>
            </a:solidFill>
            <a:round/>
          </a:ln>
        </p:spPr>
        <p:style>
          <a:lnRef idx="0"/>
          <a:fillRef idx="0"/>
          <a:effectRef idx="0"/>
          <a:fontRef idx="minor"/>
        </p:style>
        <p:txBody>
          <a:bodyPr lIns="90000" tIns="-44640" rIns="90000" bIns="-44640" anchor="t" anchorCtr="1">
            <a:noAutofit/>
          </a:bodyPr>
          <a:p>
            <a:endParaRPr lang="en-GB" sz="1800" b="0" u="none" strike="noStrike">
              <a:solidFill>
                <a:srgbClr val="FFFFFF"/>
              </a:solidFill>
              <a:effectLst/>
              <a:uFillTx/>
              <a:latin typeface="Arial"/>
            </a:endParaRPr>
          </a:p>
        </p:txBody>
      </p:sp>
      <p:sp>
        <p:nvSpPr>
          <p:cNvPr id="102" name="Shape 2"/>
          <p:cNvSpPr/>
          <p:nvPr/>
        </p:nvSpPr>
        <p:spPr>
          <a:xfrm>
            <a:off x="365760" y="1188720"/>
            <a:ext cx="8411760" cy="593640"/>
          </a:xfrm>
          <a:prstGeom prst="roundRect">
            <a:avLst>
              <a:gd name="adj" fmla="val 15385"/>
            </a:avLst>
          </a:prstGeom>
          <a:solidFill>
            <a:srgbClr val="16213E"/>
          </a:solidFill>
          <a:ln w="6350">
            <a:solidFill>
              <a:srgbClr val="0F3460"/>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03" name="Text 3"/>
          <p:cNvSpPr/>
          <p:nvPr/>
        </p:nvSpPr>
        <p:spPr>
          <a:xfrm>
            <a:off x="548640" y="1261800"/>
            <a:ext cx="2193840" cy="438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B4D8"/>
                </a:solidFill>
                <a:effectLst/>
                <a:uFillTx/>
                <a:latin typeface="Courier New"/>
                <a:ea typeface="Courier New"/>
              </a:rPr>
              <a:t>firmware/</a:t>
            </a:r>
            <a:endParaRPr lang="en-GB" sz="1300" b="0" u="none" strike="noStrike">
              <a:solidFill>
                <a:srgbClr val="FFFFFF"/>
              </a:solidFill>
              <a:effectLst/>
              <a:uFillTx/>
              <a:latin typeface="Arial"/>
            </a:endParaRPr>
          </a:p>
        </p:txBody>
      </p:sp>
      <p:sp>
        <p:nvSpPr>
          <p:cNvPr id="104" name="Text 4"/>
          <p:cNvSpPr/>
          <p:nvPr/>
        </p:nvSpPr>
        <p:spPr>
          <a:xfrm>
            <a:off x="2834640" y="1261800"/>
            <a:ext cx="5851440" cy="438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B0C4D8"/>
                </a:solidFill>
                <a:effectLst/>
                <a:uFillTx/>
                <a:latin typeface="Arial"/>
                <a:ea typeface="Arial"/>
              </a:rPr>
              <a:t>src/, include/, hex/  — source code and compiled .hex</a:t>
            </a:r>
            <a:endParaRPr lang="en-GB" sz="1100" b="0" u="none" strike="noStrike">
              <a:solidFill>
                <a:srgbClr val="FFFFFF"/>
              </a:solidFill>
              <a:effectLst/>
              <a:uFillTx/>
              <a:latin typeface="Arial"/>
            </a:endParaRPr>
          </a:p>
        </p:txBody>
      </p:sp>
      <p:sp>
        <p:nvSpPr>
          <p:cNvPr id="105" name="Shape 5"/>
          <p:cNvSpPr/>
          <p:nvPr/>
        </p:nvSpPr>
        <p:spPr>
          <a:xfrm>
            <a:off x="365760" y="1901880"/>
            <a:ext cx="8411760" cy="593640"/>
          </a:xfrm>
          <a:prstGeom prst="roundRect">
            <a:avLst>
              <a:gd name="adj" fmla="val 15385"/>
            </a:avLst>
          </a:prstGeom>
          <a:solidFill>
            <a:srgbClr val="16213E"/>
          </a:solidFill>
          <a:ln w="6350">
            <a:solidFill>
              <a:srgbClr val="0F3460"/>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06" name="Text 6"/>
          <p:cNvSpPr/>
          <p:nvPr/>
        </p:nvSpPr>
        <p:spPr>
          <a:xfrm>
            <a:off x="548640" y="1974960"/>
            <a:ext cx="2193840" cy="438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B4D8"/>
                </a:solidFill>
                <a:effectLst/>
                <a:uFillTx/>
                <a:latin typeface="Courier New"/>
                <a:ea typeface="Courier New"/>
              </a:rPr>
              <a:t>kicad/</a:t>
            </a:r>
            <a:endParaRPr lang="en-GB" sz="1300" b="0" u="none" strike="noStrike">
              <a:solidFill>
                <a:srgbClr val="FFFFFF"/>
              </a:solidFill>
              <a:effectLst/>
              <a:uFillTx/>
              <a:latin typeface="Arial"/>
            </a:endParaRPr>
          </a:p>
        </p:txBody>
      </p:sp>
      <p:sp>
        <p:nvSpPr>
          <p:cNvPr id="107" name="Text 7"/>
          <p:cNvSpPr/>
          <p:nvPr/>
        </p:nvSpPr>
        <p:spPr>
          <a:xfrm>
            <a:off x="2834640" y="1974960"/>
            <a:ext cx="5851440" cy="438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B0C4D8"/>
                </a:solidFill>
                <a:effectLst/>
                <a:uFillTx/>
                <a:latin typeface="Arial"/>
                <a:ea typeface="Arial"/>
              </a:rPr>
              <a:t>schematic/, pcb/, gerber/  — KiCad design files</a:t>
            </a:r>
            <a:endParaRPr lang="en-GB" sz="1100" b="0" u="none" strike="noStrike">
              <a:solidFill>
                <a:srgbClr val="FFFFFF"/>
              </a:solidFill>
              <a:effectLst/>
              <a:uFillTx/>
              <a:latin typeface="Arial"/>
            </a:endParaRPr>
          </a:p>
        </p:txBody>
      </p:sp>
      <p:sp>
        <p:nvSpPr>
          <p:cNvPr id="108" name="Shape 8"/>
          <p:cNvSpPr/>
          <p:nvPr/>
        </p:nvSpPr>
        <p:spPr>
          <a:xfrm>
            <a:off x="365760" y="2615040"/>
            <a:ext cx="8411760" cy="593640"/>
          </a:xfrm>
          <a:prstGeom prst="roundRect">
            <a:avLst>
              <a:gd name="adj" fmla="val 15385"/>
            </a:avLst>
          </a:prstGeom>
          <a:solidFill>
            <a:srgbClr val="16213E"/>
          </a:solidFill>
          <a:ln w="6350">
            <a:solidFill>
              <a:srgbClr val="0F3460"/>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09" name="Text 9"/>
          <p:cNvSpPr/>
          <p:nvPr/>
        </p:nvSpPr>
        <p:spPr>
          <a:xfrm>
            <a:off x="548640" y="2688480"/>
            <a:ext cx="2193840" cy="438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B4D8"/>
                </a:solidFill>
                <a:effectLst/>
                <a:uFillTx/>
                <a:latin typeface="Courier New"/>
                <a:ea typeface="Courier New"/>
              </a:rPr>
              <a:t>simulide/</a:t>
            </a:r>
            <a:endParaRPr lang="en-GB" sz="1300" b="0" u="none" strike="noStrike">
              <a:solidFill>
                <a:srgbClr val="FFFFFF"/>
              </a:solidFill>
              <a:effectLst/>
              <a:uFillTx/>
              <a:latin typeface="Arial"/>
            </a:endParaRPr>
          </a:p>
        </p:txBody>
      </p:sp>
      <p:sp>
        <p:nvSpPr>
          <p:cNvPr id="110" name="Text 10"/>
          <p:cNvSpPr/>
          <p:nvPr/>
        </p:nvSpPr>
        <p:spPr>
          <a:xfrm>
            <a:off x="2834640" y="2688480"/>
            <a:ext cx="5851440" cy="438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B0C4D8"/>
                </a:solidFill>
                <a:effectLst/>
                <a:uFillTx/>
                <a:latin typeface="Arial"/>
                <a:ea typeface="Arial"/>
              </a:rPr>
              <a:t>circuit/, screenshots/  — simulation files</a:t>
            </a:r>
            <a:endParaRPr lang="en-GB" sz="1100" b="0" u="none" strike="noStrike">
              <a:solidFill>
                <a:srgbClr val="FFFFFF"/>
              </a:solidFill>
              <a:effectLst/>
              <a:uFillTx/>
              <a:latin typeface="Arial"/>
            </a:endParaRPr>
          </a:p>
        </p:txBody>
      </p:sp>
      <p:sp>
        <p:nvSpPr>
          <p:cNvPr id="111" name="Shape 11"/>
          <p:cNvSpPr/>
          <p:nvPr/>
        </p:nvSpPr>
        <p:spPr>
          <a:xfrm>
            <a:off x="365760" y="3328560"/>
            <a:ext cx="8411760" cy="593640"/>
          </a:xfrm>
          <a:prstGeom prst="roundRect">
            <a:avLst>
              <a:gd name="adj" fmla="val 15385"/>
            </a:avLst>
          </a:prstGeom>
          <a:solidFill>
            <a:srgbClr val="16213E"/>
          </a:solidFill>
          <a:ln w="6350">
            <a:solidFill>
              <a:srgbClr val="0F3460"/>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12" name="Text 12"/>
          <p:cNvSpPr/>
          <p:nvPr/>
        </p:nvSpPr>
        <p:spPr>
          <a:xfrm>
            <a:off x="548640" y="3401640"/>
            <a:ext cx="2193840" cy="438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B4D8"/>
                </a:solidFill>
                <a:effectLst/>
                <a:uFillTx/>
                <a:latin typeface="Courier New"/>
                <a:ea typeface="Courier New"/>
              </a:rPr>
              <a:t>documentation/</a:t>
            </a:r>
            <a:endParaRPr lang="en-GB" sz="1300" b="0" u="none" strike="noStrike">
              <a:solidFill>
                <a:srgbClr val="FFFFFF"/>
              </a:solidFill>
              <a:effectLst/>
              <a:uFillTx/>
              <a:latin typeface="Arial"/>
            </a:endParaRPr>
          </a:p>
        </p:txBody>
      </p:sp>
      <p:sp>
        <p:nvSpPr>
          <p:cNvPr id="113" name="Text 13"/>
          <p:cNvSpPr/>
          <p:nvPr/>
        </p:nvSpPr>
        <p:spPr>
          <a:xfrm>
            <a:off x="2834640" y="3401640"/>
            <a:ext cx="5851440" cy="438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B0C4D8"/>
                </a:solidFill>
                <a:effectLst/>
                <a:uFillTx/>
                <a:latin typeface="Arial"/>
                <a:ea typeface="Arial"/>
              </a:rPr>
              <a:t>pwm_config, duty_calc, pin_mapping, test_results .md files</a:t>
            </a:r>
            <a:endParaRPr lang="en-GB" sz="1100" b="0" u="none" strike="noStrike">
              <a:solidFill>
                <a:srgbClr val="FFFFFF"/>
              </a:solidFill>
              <a:effectLst/>
              <a:uFillTx/>
              <a:latin typeface="Arial"/>
            </a:endParaRPr>
          </a:p>
        </p:txBody>
      </p:sp>
      <p:sp>
        <p:nvSpPr>
          <p:cNvPr id="114" name="Shape 14"/>
          <p:cNvSpPr/>
          <p:nvPr/>
        </p:nvSpPr>
        <p:spPr>
          <a:xfrm>
            <a:off x="365760" y="4041720"/>
            <a:ext cx="8411760" cy="593640"/>
          </a:xfrm>
          <a:prstGeom prst="roundRect">
            <a:avLst>
              <a:gd name="adj" fmla="val 15385"/>
            </a:avLst>
          </a:prstGeom>
          <a:solidFill>
            <a:srgbClr val="16213E"/>
          </a:solidFill>
          <a:ln w="6350">
            <a:solidFill>
              <a:srgbClr val="0F3460"/>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15" name="Text 15"/>
          <p:cNvSpPr/>
          <p:nvPr/>
        </p:nvSpPr>
        <p:spPr>
          <a:xfrm>
            <a:off x="548640" y="4114800"/>
            <a:ext cx="2193840" cy="438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B4D8"/>
                </a:solidFill>
                <a:effectLst/>
                <a:uFillTx/>
                <a:latin typeface="Courier New"/>
                <a:ea typeface="Courier New"/>
              </a:rPr>
              <a:t>media/</a:t>
            </a:r>
            <a:endParaRPr lang="en-GB" sz="1300" b="0" u="none" strike="noStrike">
              <a:solidFill>
                <a:srgbClr val="FFFFFF"/>
              </a:solidFill>
              <a:effectLst/>
              <a:uFillTx/>
              <a:latin typeface="Arial"/>
            </a:endParaRPr>
          </a:p>
        </p:txBody>
      </p:sp>
      <p:sp>
        <p:nvSpPr>
          <p:cNvPr id="116" name="Text 16"/>
          <p:cNvSpPr/>
          <p:nvPr/>
        </p:nvSpPr>
        <p:spPr>
          <a:xfrm>
            <a:off x="2834640" y="4114800"/>
            <a:ext cx="5851440" cy="438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B0C4D8"/>
                </a:solidFill>
                <a:effectLst/>
                <a:uFillTx/>
                <a:latin typeface="Arial"/>
                <a:ea typeface="Arial"/>
              </a:rPr>
              <a:t>demonstration_video_link.txt</a:t>
            </a:r>
            <a:endParaRPr lang="en-GB" sz="1100" b="0" u="none" strike="noStrike">
              <a:solidFill>
                <a:srgbClr val="FFFFFF"/>
              </a:solidFill>
              <a:effectLst/>
              <a:uFillTx/>
              <a:latin typeface="Arial"/>
            </a:endParaRPr>
          </a:p>
        </p:txBody>
      </p:sp>
      <p:sp>
        <p:nvSpPr>
          <p:cNvPr id="117" name="Shape 17"/>
          <p:cNvSpPr/>
          <p:nvPr/>
        </p:nvSpPr>
        <p:spPr>
          <a:xfrm>
            <a:off x="457200" y="4772880"/>
            <a:ext cx="8229600" cy="360"/>
          </a:xfrm>
          <a:prstGeom prst="line">
            <a:avLst/>
          </a:prstGeom>
          <a:ln w="12700">
            <a:solidFill>
              <a:srgbClr val="00B4D8"/>
            </a:solidFill>
            <a:round/>
          </a:ln>
        </p:spPr>
        <p:style>
          <a:lnRef idx="0"/>
          <a:fillRef idx="0"/>
          <a:effectRef idx="0"/>
          <a:fontRef idx="minor"/>
        </p:style>
        <p:txBody>
          <a:bodyPr lIns="90000" tIns="-44640" rIns="90000" bIns="-44640" anchor="t" anchorCtr="1">
            <a:noAutofit/>
          </a:bodyPr>
          <a:p>
            <a:endParaRPr lang="en-GB" sz="1800" b="0" u="none" strike="noStrike">
              <a:solidFill>
                <a:srgbClr val="FFFFFF"/>
              </a:solidFill>
              <a:effectLst/>
              <a:uFillTx/>
              <a:latin typeface="Arial"/>
            </a:endParaRPr>
          </a:p>
        </p:txBody>
      </p:sp>
      <p:sp>
        <p:nvSpPr>
          <p:cNvPr id="118" name="Text 18"/>
          <p:cNvSpPr/>
          <p:nvPr/>
        </p:nvSpPr>
        <p:spPr>
          <a:xfrm>
            <a:off x="457200" y="4818960"/>
            <a:ext cx="822888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ourier New"/>
                <a:ea typeface="Courier New"/>
              </a:rPr>
              <a:t>Repository: ATmega32_PWM_DC_Motor_Control</a:t>
            </a:r>
            <a:endParaRPr lang="en-GB"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19" name="Shape 0"/>
          <p:cNvSpPr/>
          <p:nvPr/>
        </p:nvSpPr>
        <p:spPr>
          <a:xfrm>
            <a:off x="5943600" y="-457200"/>
            <a:ext cx="4571280" cy="4571280"/>
          </a:xfrm>
          <a:prstGeom prst="ellipse">
            <a:avLst/>
          </a:prstGeom>
          <a:solidFill>
            <a:srgbClr val="00B4D8">
              <a:alpha val="12000"/>
            </a:srgbClr>
          </a:solidFill>
          <a:ln w="12700">
            <a:solidFill>
              <a:srgbClr val="00B4D8"/>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20" name="Shape 1"/>
          <p:cNvSpPr/>
          <p:nvPr/>
        </p:nvSpPr>
        <p:spPr>
          <a:xfrm>
            <a:off x="-1371600" y="2560320"/>
            <a:ext cx="3656880" cy="3656880"/>
          </a:xfrm>
          <a:prstGeom prst="ellipse">
            <a:avLst/>
          </a:prstGeom>
          <a:solidFill>
            <a:srgbClr val="0F3460">
              <a:alpha val="25000"/>
            </a:srgbClr>
          </a:solidFill>
          <a:ln w="12700">
            <a:solidFill>
              <a:srgbClr val="0F3460"/>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21" name="Text 2"/>
          <p:cNvSpPr/>
          <p:nvPr/>
        </p:nvSpPr>
        <p:spPr>
          <a:xfrm>
            <a:off x="457200" y="274320"/>
            <a:ext cx="822888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00B4D8"/>
                </a:solidFill>
                <a:effectLst/>
                <a:uFillTx/>
                <a:latin typeface="Arial"/>
                <a:ea typeface="Arial"/>
              </a:rPr>
              <a:t>Conclusion</a:t>
            </a:r>
            <a:endParaRPr lang="en-GB" sz="3000" b="0" u="none" strike="noStrike">
              <a:solidFill>
                <a:srgbClr val="FFFFFF"/>
              </a:solidFill>
              <a:effectLst/>
              <a:uFillTx/>
              <a:latin typeface="Arial"/>
            </a:endParaRPr>
          </a:p>
        </p:txBody>
      </p:sp>
      <p:sp>
        <p:nvSpPr>
          <p:cNvPr id="122" name="Shape 3"/>
          <p:cNvSpPr/>
          <p:nvPr/>
        </p:nvSpPr>
        <p:spPr>
          <a:xfrm>
            <a:off x="365760" y="1097280"/>
            <a:ext cx="4159800" cy="1078200"/>
          </a:xfrm>
          <a:prstGeom prst="roundRect">
            <a:avLst>
              <a:gd name="adj" fmla="val 10169"/>
            </a:avLst>
          </a:prstGeom>
          <a:solidFill>
            <a:srgbClr val="16213E"/>
          </a:solidFill>
          <a:ln w="6350">
            <a:solidFill>
              <a:srgbClr val="0F3460"/>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23" name="Text 4"/>
          <p:cNvSpPr/>
          <p:nvPr/>
        </p:nvSpPr>
        <p:spPr>
          <a:xfrm>
            <a:off x="475560" y="1207080"/>
            <a:ext cx="410760" cy="410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0B4D8"/>
                </a:solidFill>
                <a:effectLst/>
                <a:uFillTx/>
                <a:latin typeface="Arial"/>
                <a:ea typeface="Arial"/>
              </a:rPr>
              <a:t>✓</a:t>
            </a:r>
            <a:endParaRPr lang="en-GB" sz="1800" b="0" u="none" strike="noStrike">
              <a:solidFill>
                <a:srgbClr val="FFFFFF"/>
              </a:solidFill>
              <a:effectLst/>
              <a:uFillTx/>
              <a:latin typeface="Arial"/>
            </a:endParaRPr>
          </a:p>
        </p:txBody>
      </p:sp>
      <p:sp>
        <p:nvSpPr>
          <p:cNvPr id="124" name="Text 5"/>
          <p:cNvSpPr/>
          <p:nvPr/>
        </p:nvSpPr>
        <p:spPr>
          <a:xfrm>
            <a:off x="932760" y="1188720"/>
            <a:ext cx="3474000" cy="346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PWM Generation</a:t>
            </a:r>
            <a:endParaRPr lang="en-GB" sz="1200" b="0" u="none" strike="noStrike">
              <a:solidFill>
                <a:srgbClr val="FFFFFF"/>
              </a:solidFill>
              <a:effectLst/>
              <a:uFillTx/>
              <a:latin typeface="Arial"/>
            </a:endParaRPr>
          </a:p>
        </p:txBody>
      </p:sp>
      <p:sp>
        <p:nvSpPr>
          <p:cNvPr id="125" name="Text 6"/>
          <p:cNvSpPr/>
          <p:nvPr/>
        </p:nvSpPr>
        <p:spPr>
          <a:xfrm>
            <a:off x="932760" y="1536120"/>
            <a:ext cx="3474000" cy="502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B0C4D8"/>
                </a:solidFill>
                <a:effectLst/>
                <a:uFillTx/>
                <a:latin typeface="Arial"/>
                <a:ea typeface="Arial"/>
              </a:rPr>
              <a:t>Timer0 Fast PWM at 31.25 kHz on PB3/OC0 — confirmed by oscilloscope</a:t>
            </a:r>
            <a:endParaRPr lang="en-GB" sz="1000" b="0" u="none" strike="noStrike">
              <a:solidFill>
                <a:srgbClr val="FFFFFF"/>
              </a:solidFill>
              <a:effectLst/>
              <a:uFillTx/>
              <a:latin typeface="Arial"/>
            </a:endParaRPr>
          </a:p>
        </p:txBody>
      </p:sp>
      <p:sp>
        <p:nvSpPr>
          <p:cNvPr id="126" name="Shape 7"/>
          <p:cNvSpPr/>
          <p:nvPr/>
        </p:nvSpPr>
        <p:spPr>
          <a:xfrm>
            <a:off x="4800600" y="1097280"/>
            <a:ext cx="4159800" cy="1078200"/>
          </a:xfrm>
          <a:prstGeom prst="roundRect">
            <a:avLst>
              <a:gd name="adj" fmla="val 10169"/>
            </a:avLst>
          </a:prstGeom>
          <a:solidFill>
            <a:srgbClr val="16213E"/>
          </a:solidFill>
          <a:ln w="6350">
            <a:solidFill>
              <a:srgbClr val="0F3460"/>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27" name="Text 8"/>
          <p:cNvSpPr/>
          <p:nvPr/>
        </p:nvSpPr>
        <p:spPr>
          <a:xfrm>
            <a:off x="4910400" y="1207080"/>
            <a:ext cx="410760" cy="410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0B4D8"/>
                </a:solidFill>
                <a:effectLst/>
                <a:uFillTx/>
                <a:latin typeface="Arial"/>
                <a:ea typeface="Arial"/>
              </a:rPr>
              <a:t>✓</a:t>
            </a:r>
            <a:endParaRPr lang="en-GB" sz="1800" b="0" u="none" strike="noStrike">
              <a:solidFill>
                <a:srgbClr val="FFFFFF"/>
              </a:solidFill>
              <a:effectLst/>
              <a:uFillTx/>
              <a:latin typeface="Arial"/>
            </a:endParaRPr>
          </a:p>
        </p:txBody>
      </p:sp>
      <p:sp>
        <p:nvSpPr>
          <p:cNvPr id="128" name="Text 9"/>
          <p:cNvSpPr/>
          <p:nvPr/>
        </p:nvSpPr>
        <p:spPr>
          <a:xfrm>
            <a:off x="5367600" y="1188720"/>
            <a:ext cx="3474000" cy="346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Speed Control</a:t>
            </a:r>
            <a:endParaRPr lang="en-GB" sz="1200" b="0" u="none" strike="noStrike">
              <a:solidFill>
                <a:srgbClr val="FFFFFF"/>
              </a:solidFill>
              <a:effectLst/>
              <a:uFillTx/>
              <a:latin typeface="Arial"/>
            </a:endParaRPr>
          </a:p>
        </p:txBody>
      </p:sp>
      <p:sp>
        <p:nvSpPr>
          <p:cNvPr id="129" name="Text 10"/>
          <p:cNvSpPr/>
          <p:nvPr/>
        </p:nvSpPr>
        <p:spPr>
          <a:xfrm>
            <a:off x="5367600" y="1536120"/>
            <a:ext cx="3474000" cy="502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B0C4D8"/>
                </a:solidFill>
                <a:effectLst/>
                <a:uFillTx/>
                <a:latin typeface="Arial"/>
                <a:ea typeface="Arial"/>
              </a:rPr>
              <a:t>5 discrete levels (0–100%) via push buttons with safety limits</a:t>
            </a:r>
            <a:endParaRPr lang="en-GB" sz="1000" b="0" u="none" strike="noStrike">
              <a:solidFill>
                <a:srgbClr val="FFFFFF"/>
              </a:solidFill>
              <a:effectLst/>
              <a:uFillTx/>
              <a:latin typeface="Arial"/>
            </a:endParaRPr>
          </a:p>
        </p:txBody>
      </p:sp>
      <p:sp>
        <p:nvSpPr>
          <p:cNvPr id="130" name="Shape 11"/>
          <p:cNvSpPr/>
          <p:nvPr/>
        </p:nvSpPr>
        <p:spPr>
          <a:xfrm>
            <a:off x="365760" y="2331720"/>
            <a:ext cx="4159800" cy="1078200"/>
          </a:xfrm>
          <a:prstGeom prst="roundRect">
            <a:avLst>
              <a:gd name="adj" fmla="val 10169"/>
            </a:avLst>
          </a:prstGeom>
          <a:solidFill>
            <a:srgbClr val="16213E"/>
          </a:solidFill>
          <a:ln w="6350">
            <a:solidFill>
              <a:srgbClr val="0F3460"/>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31" name="Text 12"/>
          <p:cNvSpPr/>
          <p:nvPr/>
        </p:nvSpPr>
        <p:spPr>
          <a:xfrm>
            <a:off x="475560" y="2441520"/>
            <a:ext cx="410760" cy="410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0B4D8"/>
                </a:solidFill>
                <a:effectLst/>
                <a:uFillTx/>
                <a:latin typeface="Arial"/>
                <a:ea typeface="Arial"/>
              </a:rPr>
              <a:t>✓</a:t>
            </a:r>
            <a:endParaRPr lang="en-GB" sz="1800" b="0" u="none" strike="noStrike">
              <a:solidFill>
                <a:srgbClr val="FFFFFF"/>
              </a:solidFill>
              <a:effectLst/>
              <a:uFillTx/>
              <a:latin typeface="Arial"/>
            </a:endParaRPr>
          </a:p>
        </p:txBody>
      </p:sp>
      <p:sp>
        <p:nvSpPr>
          <p:cNvPr id="132" name="Text 13"/>
          <p:cNvSpPr/>
          <p:nvPr/>
        </p:nvSpPr>
        <p:spPr>
          <a:xfrm>
            <a:off x="932760" y="2423160"/>
            <a:ext cx="3474000" cy="346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Motor Driver</a:t>
            </a:r>
            <a:endParaRPr lang="en-GB" sz="1200" b="0" u="none" strike="noStrike">
              <a:solidFill>
                <a:srgbClr val="FFFFFF"/>
              </a:solidFill>
              <a:effectLst/>
              <a:uFillTx/>
              <a:latin typeface="Arial"/>
            </a:endParaRPr>
          </a:p>
        </p:txBody>
      </p:sp>
      <p:sp>
        <p:nvSpPr>
          <p:cNvPr id="133" name="Text 14"/>
          <p:cNvSpPr/>
          <p:nvPr/>
        </p:nvSpPr>
        <p:spPr>
          <a:xfrm>
            <a:off x="932760" y="2770560"/>
            <a:ext cx="3474000" cy="502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B0C4D8"/>
                </a:solidFill>
                <a:effectLst/>
                <a:uFillTx/>
                <a:latin typeface="Arial"/>
                <a:ea typeface="Arial"/>
              </a:rPr>
              <a:t>MOSFET stage + flyback diode protects MCU from back-EMF</a:t>
            </a:r>
            <a:endParaRPr lang="en-GB" sz="1000" b="0" u="none" strike="noStrike">
              <a:solidFill>
                <a:srgbClr val="FFFFFF"/>
              </a:solidFill>
              <a:effectLst/>
              <a:uFillTx/>
              <a:latin typeface="Arial"/>
            </a:endParaRPr>
          </a:p>
        </p:txBody>
      </p:sp>
      <p:sp>
        <p:nvSpPr>
          <p:cNvPr id="134" name="Shape 15"/>
          <p:cNvSpPr/>
          <p:nvPr/>
        </p:nvSpPr>
        <p:spPr>
          <a:xfrm>
            <a:off x="4800600" y="2331720"/>
            <a:ext cx="4159800" cy="1078200"/>
          </a:xfrm>
          <a:prstGeom prst="roundRect">
            <a:avLst>
              <a:gd name="adj" fmla="val 10169"/>
            </a:avLst>
          </a:prstGeom>
          <a:solidFill>
            <a:srgbClr val="16213E"/>
          </a:solidFill>
          <a:ln w="6350">
            <a:solidFill>
              <a:srgbClr val="0F3460"/>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35" name="Text 16"/>
          <p:cNvSpPr/>
          <p:nvPr/>
        </p:nvSpPr>
        <p:spPr>
          <a:xfrm>
            <a:off x="4910400" y="2441520"/>
            <a:ext cx="410760" cy="410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0B4D8"/>
                </a:solidFill>
                <a:effectLst/>
                <a:uFillTx/>
                <a:latin typeface="Arial"/>
                <a:ea typeface="Arial"/>
              </a:rPr>
              <a:t>✓</a:t>
            </a:r>
            <a:endParaRPr lang="en-GB" sz="1800" b="0" u="none" strike="noStrike">
              <a:solidFill>
                <a:srgbClr val="FFFFFF"/>
              </a:solidFill>
              <a:effectLst/>
              <a:uFillTx/>
              <a:latin typeface="Arial"/>
            </a:endParaRPr>
          </a:p>
        </p:txBody>
      </p:sp>
      <p:sp>
        <p:nvSpPr>
          <p:cNvPr id="136" name="Text 17"/>
          <p:cNvSpPr/>
          <p:nvPr/>
        </p:nvSpPr>
        <p:spPr>
          <a:xfrm>
            <a:off x="5367600" y="2423160"/>
            <a:ext cx="3474000" cy="346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LED Indication</a:t>
            </a:r>
            <a:endParaRPr lang="en-GB" sz="1200" b="0" u="none" strike="noStrike">
              <a:solidFill>
                <a:srgbClr val="FFFFFF"/>
              </a:solidFill>
              <a:effectLst/>
              <a:uFillTx/>
              <a:latin typeface="Arial"/>
            </a:endParaRPr>
          </a:p>
        </p:txBody>
      </p:sp>
      <p:sp>
        <p:nvSpPr>
          <p:cNvPr id="137" name="Text 18"/>
          <p:cNvSpPr/>
          <p:nvPr/>
        </p:nvSpPr>
        <p:spPr>
          <a:xfrm>
            <a:off x="5367600" y="2770560"/>
            <a:ext cx="3474000" cy="502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B0C4D8"/>
                </a:solidFill>
                <a:effectLst/>
                <a:uFillTx/>
                <a:latin typeface="Arial"/>
                <a:ea typeface="Arial"/>
              </a:rPr>
              <a:t>Speed level shown clearly on PB0, PB1, PB2 LEDs</a:t>
            </a:r>
            <a:endParaRPr lang="en-GB" sz="1000" b="0" u="none" strike="noStrike">
              <a:solidFill>
                <a:srgbClr val="FFFFFF"/>
              </a:solidFill>
              <a:effectLst/>
              <a:uFillTx/>
              <a:latin typeface="Arial"/>
            </a:endParaRPr>
          </a:p>
        </p:txBody>
      </p:sp>
      <p:sp>
        <p:nvSpPr>
          <p:cNvPr id="138" name="Shape 19"/>
          <p:cNvSpPr/>
          <p:nvPr/>
        </p:nvSpPr>
        <p:spPr>
          <a:xfrm>
            <a:off x="365760" y="3566160"/>
            <a:ext cx="4159800" cy="1078200"/>
          </a:xfrm>
          <a:prstGeom prst="roundRect">
            <a:avLst>
              <a:gd name="adj" fmla="val 10169"/>
            </a:avLst>
          </a:prstGeom>
          <a:solidFill>
            <a:srgbClr val="16213E"/>
          </a:solidFill>
          <a:ln w="6350">
            <a:solidFill>
              <a:srgbClr val="0F3460"/>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39" name="Text 20"/>
          <p:cNvSpPr/>
          <p:nvPr/>
        </p:nvSpPr>
        <p:spPr>
          <a:xfrm>
            <a:off x="475560" y="3675960"/>
            <a:ext cx="410760" cy="410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0B4D8"/>
                </a:solidFill>
                <a:effectLst/>
                <a:uFillTx/>
                <a:latin typeface="Arial"/>
                <a:ea typeface="Arial"/>
              </a:rPr>
              <a:t>✓</a:t>
            </a:r>
            <a:endParaRPr lang="en-GB" sz="1800" b="0" u="none" strike="noStrike">
              <a:solidFill>
                <a:srgbClr val="FFFFFF"/>
              </a:solidFill>
              <a:effectLst/>
              <a:uFillTx/>
              <a:latin typeface="Arial"/>
            </a:endParaRPr>
          </a:p>
        </p:txBody>
      </p:sp>
      <p:sp>
        <p:nvSpPr>
          <p:cNvPr id="140" name="Text 21"/>
          <p:cNvSpPr/>
          <p:nvPr/>
        </p:nvSpPr>
        <p:spPr>
          <a:xfrm>
            <a:off x="932760" y="3657600"/>
            <a:ext cx="3474000" cy="346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KiCad Design</a:t>
            </a:r>
            <a:endParaRPr lang="en-GB" sz="1200" b="0" u="none" strike="noStrike">
              <a:solidFill>
                <a:srgbClr val="FFFFFF"/>
              </a:solidFill>
              <a:effectLst/>
              <a:uFillTx/>
              <a:latin typeface="Arial"/>
            </a:endParaRPr>
          </a:p>
        </p:txBody>
      </p:sp>
      <p:sp>
        <p:nvSpPr>
          <p:cNvPr id="141" name="Text 22"/>
          <p:cNvSpPr/>
          <p:nvPr/>
        </p:nvSpPr>
        <p:spPr>
          <a:xfrm>
            <a:off x="932760" y="4005000"/>
            <a:ext cx="3474000" cy="502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B0C4D8"/>
                </a:solidFill>
                <a:effectLst/>
                <a:uFillTx/>
                <a:latin typeface="Arial"/>
                <a:ea typeface="Arial"/>
              </a:rPr>
              <a:t>Full schematic + PCB layout with DRC/ERC compliance</a:t>
            </a:r>
            <a:endParaRPr lang="en-GB" sz="1000" b="0" u="none" strike="noStrike">
              <a:solidFill>
                <a:srgbClr val="FFFFFF"/>
              </a:solidFill>
              <a:effectLst/>
              <a:uFillTx/>
              <a:latin typeface="Arial"/>
            </a:endParaRPr>
          </a:p>
        </p:txBody>
      </p:sp>
      <p:sp>
        <p:nvSpPr>
          <p:cNvPr id="142" name="Shape 23"/>
          <p:cNvSpPr/>
          <p:nvPr/>
        </p:nvSpPr>
        <p:spPr>
          <a:xfrm>
            <a:off x="4800600" y="3566160"/>
            <a:ext cx="4159800" cy="1078200"/>
          </a:xfrm>
          <a:prstGeom prst="roundRect">
            <a:avLst>
              <a:gd name="adj" fmla="val 10169"/>
            </a:avLst>
          </a:prstGeom>
          <a:solidFill>
            <a:srgbClr val="16213E"/>
          </a:solidFill>
          <a:ln w="6350">
            <a:solidFill>
              <a:srgbClr val="0F3460"/>
            </a:solidFill>
            <a:round/>
          </a:ln>
          <a:effectLst>
            <a:outerShdw algn="bl" blurRad="101520" dir="2700000" dist="37674" kx="0" ky="0" rotWithShape="0" sx="100000" sy="100000">
              <a:srgbClr val="000000">
                <a:alpha val="14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43" name="Text 24"/>
          <p:cNvSpPr/>
          <p:nvPr/>
        </p:nvSpPr>
        <p:spPr>
          <a:xfrm>
            <a:off x="4910400" y="3675960"/>
            <a:ext cx="410760" cy="410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0B4D8"/>
                </a:solidFill>
                <a:effectLst/>
                <a:uFillTx/>
                <a:latin typeface="Arial"/>
                <a:ea typeface="Arial"/>
              </a:rPr>
              <a:t>✓</a:t>
            </a:r>
            <a:endParaRPr lang="en-GB" sz="1800" b="0" u="none" strike="noStrike">
              <a:solidFill>
                <a:srgbClr val="FFFFFF"/>
              </a:solidFill>
              <a:effectLst/>
              <a:uFillTx/>
              <a:latin typeface="Arial"/>
            </a:endParaRPr>
          </a:p>
        </p:txBody>
      </p:sp>
      <p:sp>
        <p:nvSpPr>
          <p:cNvPr id="144" name="Text 25"/>
          <p:cNvSpPr/>
          <p:nvPr/>
        </p:nvSpPr>
        <p:spPr>
          <a:xfrm>
            <a:off x="5367600" y="3657600"/>
            <a:ext cx="3474000" cy="346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Simulation Verified</a:t>
            </a:r>
            <a:endParaRPr lang="en-GB" sz="1200" b="0" u="none" strike="noStrike">
              <a:solidFill>
                <a:srgbClr val="FFFFFF"/>
              </a:solidFill>
              <a:effectLst/>
              <a:uFillTx/>
              <a:latin typeface="Arial"/>
            </a:endParaRPr>
          </a:p>
        </p:txBody>
      </p:sp>
      <p:sp>
        <p:nvSpPr>
          <p:cNvPr id="145" name="Text 26"/>
          <p:cNvSpPr/>
          <p:nvPr/>
        </p:nvSpPr>
        <p:spPr>
          <a:xfrm>
            <a:off x="5367600" y="4005000"/>
            <a:ext cx="3474000" cy="502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B0C4D8"/>
                </a:solidFill>
                <a:effectLst/>
                <a:uFillTx/>
                <a:latin typeface="Arial"/>
                <a:ea typeface="Arial"/>
              </a:rPr>
              <a:t>All 6 functional tests passed in SimulIDE</a:t>
            </a:r>
            <a:endParaRPr lang="en-GB"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46" name="Text 1"/>
          <p:cNvSpPr/>
          <p:nvPr/>
        </p:nvSpPr>
        <p:spPr>
          <a:xfrm>
            <a:off x="457200" y="1371600"/>
            <a:ext cx="8228880" cy="1096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5200" b="1" u="none" strike="noStrike">
                <a:solidFill>
                  <a:srgbClr val="FFFFFF"/>
                </a:solidFill>
                <a:effectLst/>
                <a:uFillTx/>
                <a:latin typeface="Arial"/>
                <a:ea typeface="Arial"/>
              </a:rPr>
              <a:t>Thank You</a:t>
            </a:r>
            <a:endParaRPr lang="en-GB" sz="5200" b="0" u="none" strike="noStrike">
              <a:solidFill>
                <a:srgbClr val="FFFFFF"/>
              </a:solidFill>
              <a:effectLst/>
              <a:uFillTx/>
              <a:latin typeface="Arial"/>
            </a:endParaRPr>
          </a:p>
        </p:txBody>
      </p:sp>
      <p:sp>
        <p:nvSpPr>
          <p:cNvPr id="147" name="Shape 3"/>
          <p:cNvSpPr/>
          <p:nvPr/>
        </p:nvSpPr>
        <p:spPr>
          <a:xfrm>
            <a:off x="2822400" y="2340000"/>
            <a:ext cx="3657600" cy="360"/>
          </a:xfrm>
          <a:prstGeom prst="line">
            <a:avLst/>
          </a:prstGeom>
          <a:ln w="12700">
            <a:solidFill>
              <a:srgbClr val="00B4D8"/>
            </a:solidFill>
            <a:round/>
          </a:ln>
        </p:spPr>
        <p:style>
          <a:lnRef idx="0"/>
          <a:fillRef idx="0"/>
          <a:effectRef idx="0"/>
          <a:fontRef idx="minor"/>
        </p:style>
        <p:txBody>
          <a:bodyPr lIns="90000" tIns="-44640" rIns="90000" bIns="-44640" anchor="t" anchorCtr="1">
            <a:noAutofit/>
          </a:bodyPr>
          <a:p>
            <a:endParaRPr lang="en-GB" sz="1800" b="0" u="none" strike="noStrike">
              <a:solidFill>
                <a:srgbClr val="FFFFFF"/>
              </a:solidFill>
              <a:effectLst/>
              <a:uFillTx/>
              <a:latin typeface="Arial"/>
            </a:endParaRPr>
          </a:p>
        </p:txBody>
      </p:sp>
      <p:sp>
        <p:nvSpPr>
          <p:cNvPr id="148" name="Text 4"/>
          <p:cNvSpPr/>
          <p:nvPr/>
        </p:nvSpPr>
        <p:spPr>
          <a:xfrm>
            <a:off x="457200" y="3252960"/>
            <a:ext cx="8228880" cy="346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B0C4D8"/>
                </a:solidFill>
                <a:effectLst/>
                <a:uFillTx/>
                <a:latin typeface="Courier New"/>
                <a:ea typeface="Courier New"/>
              </a:rPr>
              <a:t>GitHub: ATmega32_PWM_DC_Motor_Control</a:t>
            </a:r>
            <a:endParaRPr lang="en-GB"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55</TotalTime>
  <Application>LibreOffice/26.2.3.2$Linux_X86_64 LibreOffice_project/70e089b17412e4cb7773e41413306b17a2328c34</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2026-06-18T22:29:45Z</dcterms:created>
  <dc:creator>PptxGenJS</dc:creator>
  <dc:description/>
  <dc:language>en-GB</dc:language>
  <cp:lastModifiedBy/>
  <dcterms:modified xsi:type="dcterms:W3CDTF">2026-06-30T23:20:31Z</dcterms:modified>
  <cp:revision>22</cp:revision>
  <dc:subject>PptxGenJS Presentation</dc:subject>
  <dc:title>PWM-Based DC Motor Speed Control System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(16:9)</vt:lpwstr>
  </property>
  <property fmtid="{D5CDD505-2E9C-101B-9397-08002B2CF9AE}" pid="4" name="Slides">
    <vt:i4>11</vt:i4>
  </property>
</Properties>
</file>